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0"/>
  </p:notesMasterIdLst>
  <p:sldIdLst>
    <p:sldId id="257" r:id="rId2"/>
    <p:sldId id="258" r:id="rId3"/>
    <p:sldId id="284" r:id="rId4"/>
    <p:sldId id="297" r:id="rId5"/>
    <p:sldId id="298" r:id="rId6"/>
    <p:sldId id="299" r:id="rId7"/>
    <p:sldId id="300" r:id="rId8"/>
    <p:sldId id="301" r:id="rId9"/>
    <p:sldId id="303" r:id="rId10"/>
    <p:sldId id="305" r:id="rId11"/>
    <p:sldId id="306" r:id="rId12"/>
    <p:sldId id="307" r:id="rId13"/>
    <p:sldId id="308" r:id="rId14"/>
    <p:sldId id="309" r:id="rId15"/>
    <p:sldId id="302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0" r:id="rId24"/>
    <p:sldId id="304" r:id="rId25"/>
    <p:sldId id="319" r:id="rId26"/>
    <p:sldId id="318" r:id="rId27"/>
    <p:sldId id="320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B8F0"/>
    <a:srgbClr val="FF9900"/>
    <a:srgbClr val="F3FC9E"/>
    <a:srgbClr val="FDC7F5"/>
    <a:srgbClr val="8DE0FD"/>
    <a:srgbClr val="E1F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5326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D933B-8FBE-4595-87A4-9EECC3EBC272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221B0-A3AB-4C74-8324-47966F7928F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15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EED2B6-D836-4838-BD67-255DF7693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5BF53-2E80-4C08-B985-37D2C00F8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1624" y="1837765"/>
            <a:ext cx="5907741" cy="2364628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BDE30-4AD1-438C-A0AB-A7BFE60D1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1624" y="4338919"/>
            <a:ext cx="4778189" cy="699248"/>
          </a:xfrm>
        </p:spPr>
        <p:txBody>
          <a:bodyPr>
            <a:normAutofit/>
          </a:bodyPr>
          <a:lstStyle>
            <a:lvl1pPr marL="0" indent="0" algn="l">
              <a:buNone/>
              <a:defRPr sz="2000" i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524-C52F-4A8E-A505-F1DC2AE0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8644" y="398277"/>
            <a:ext cx="2971800" cy="453370"/>
          </a:xfrm>
          <a:prstGeom prst="rect">
            <a:avLst/>
          </a:prstGeom>
        </p:spPr>
        <p:txBody>
          <a:bodyPr/>
          <a:lstStyle>
            <a:lvl1pPr>
              <a:defRPr sz="1400" b="1" spc="3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008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A 1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EE1DE-2E3F-4FC2-898D-A515B119C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8" y="1037478"/>
            <a:ext cx="9744637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034709"/>
            <a:ext cx="9744637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31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016D3-0923-4643-AD2F-8B0493B0B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1454598"/>
            <a:ext cx="40122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2357718"/>
            <a:ext cx="40122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1454598"/>
            <a:ext cx="4031983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2357718"/>
            <a:ext cx="4031983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229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B 1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B3501F-31BE-47A9-9E1E-F5FABD537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8" y="1243666"/>
            <a:ext cx="9744637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240897"/>
            <a:ext cx="9744637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3199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ED413E-A34E-48E0-B735-82B326ABD0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1454598"/>
            <a:ext cx="40122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2357718"/>
            <a:ext cx="40122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1454598"/>
            <a:ext cx="4031983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2357718"/>
            <a:ext cx="4031983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262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A5B86-0336-447F-83DA-6B00B17B86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9107D6-1562-4144-87BD-913871F3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673" y="1709739"/>
            <a:ext cx="4823010" cy="2145086"/>
          </a:xfrm>
        </p:spPr>
        <p:txBody>
          <a:bodyPr anchor="b">
            <a:normAutofit/>
          </a:bodyPr>
          <a:lstStyle>
            <a:lvl1pPr>
              <a:defRPr sz="4800" b="0" i="1"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7E98-92DD-47B0-976B-9D83AC3A2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3673" y="3979864"/>
            <a:ext cx="4310155" cy="10314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179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&amp; Content 2 C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DB9294-B302-467F-8B93-6360B22AD3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5719" y="4518212"/>
            <a:ext cx="4012224" cy="37651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62D0-BF8F-4821-9371-62A5507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5719" y="5047130"/>
            <a:ext cx="4012224" cy="1228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911" y="4518212"/>
            <a:ext cx="4031983" cy="376518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911" y="5047130"/>
            <a:ext cx="4031983" cy="1228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FA99F8C-3B08-4BEC-9E08-213E371E53C8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0" y="1"/>
            <a:ext cx="12192000" cy="42582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5588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 1 Colom &amp;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BA0156-8B96-4128-9124-96BACAFEA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C6250-4833-4996-9089-4A6D328F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9" y="1243666"/>
            <a:ext cx="3558990" cy="80925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ED9F1-6277-4CCD-AE9B-3CF863F1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928" y="2240897"/>
            <a:ext cx="3558991" cy="2976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CD9FC-0393-4FC8-BABF-3679431B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8482" y="185738"/>
            <a:ext cx="2743200" cy="495299"/>
          </a:xfrm>
          <a:prstGeom prst="rect">
            <a:avLst/>
          </a:prstGeom>
        </p:spPr>
        <p:txBody>
          <a:bodyPr/>
          <a:lstStyle>
            <a:lvl1pPr algn="r">
              <a:defRPr sz="1200" b="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8B5BE8F-A1C1-47D3-A30E-927B171A2B62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019800" y="761719"/>
            <a:ext cx="6172200" cy="60962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035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BE0685-8840-4B76-837F-7546BCD782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4E41-BF69-4FAD-9CD8-925F4772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96" y="2483224"/>
            <a:ext cx="2348751" cy="1604682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5F5B8-02D8-440E-AF72-BE000AB0F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9335" y="1185657"/>
            <a:ext cx="6434524" cy="750720"/>
          </a:xfrm>
        </p:spPr>
        <p:txBody>
          <a:bodyPr anchor="b"/>
          <a:lstStyle>
            <a:lvl1pPr marL="0" indent="0" algn="l">
              <a:buNone/>
              <a:defRPr sz="2400" b="1">
                <a:latin typeface="Signika" panose="0201000302060000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E1B84-5506-480C-93B3-C267CE6F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9335" y="2088777"/>
            <a:ext cx="6434524" cy="36934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9E22D-C534-4A7E-8C6C-5498F0C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8421" y="206507"/>
            <a:ext cx="2120153" cy="365125"/>
          </a:xfrm>
          <a:prstGeom prst="rect">
            <a:avLst/>
          </a:prstGeom>
        </p:spPr>
        <p:txBody>
          <a:bodyPr/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026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1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0C5C4-D863-439C-9BC4-7786132B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41C26-F316-4A7E-900E-3989505D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8" r:id="rId3"/>
    <p:sldLayoutId id="2147483695" r:id="rId4"/>
    <p:sldLayoutId id="2147483696" r:id="rId5"/>
    <p:sldLayoutId id="2147483686" r:id="rId6"/>
    <p:sldLayoutId id="2147483697" r:id="rId7"/>
    <p:sldLayoutId id="2147483699" r:id="rId8"/>
    <p:sldLayoutId id="2147483700" r:id="rId9"/>
    <p:sldLayoutId id="214748370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ignika" panose="0201000302060000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C0FC20F-AFC7-44B2-9D9C-E682CAB2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5024" y="4510369"/>
            <a:ext cx="4778189" cy="1189952"/>
          </a:xfrm>
        </p:spPr>
        <p:txBody>
          <a:bodyPr>
            <a:normAutofit fontScale="92500" lnSpcReduction="20000"/>
          </a:bodyPr>
          <a:lstStyle/>
          <a:p>
            <a:endParaRPr lang="en-US" b="1" i="0" dirty="0"/>
          </a:p>
          <a:p>
            <a:endParaRPr lang="en-ID" sz="1400" dirty="0"/>
          </a:p>
          <a:p>
            <a:r>
              <a:rPr lang="en-ID" sz="1400" dirty="0" smtClean="0"/>
              <a:t>Tim </a:t>
            </a:r>
            <a:r>
              <a:rPr lang="en-ID" sz="1400" dirty="0" err="1" smtClean="0"/>
              <a:t>Pengajar</a:t>
            </a:r>
            <a:endParaRPr lang="en-ID" sz="1400" dirty="0"/>
          </a:p>
          <a:p>
            <a:r>
              <a:rPr lang="en-ID" sz="1600" dirty="0" smtClean="0"/>
              <a:t>2021</a:t>
            </a:r>
            <a:endParaRPr lang="en-ID" sz="1600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681855C-F23D-4877-9B66-969CB01EAB30}"/>
              </a:ext>
            </a:extLst>
          </p:cNvPr>
          <p:cNvSpPr txBox="1">
            <a:spLocks/>
          </p:cNvSpPr>
          <p:nvPr/>
        </p:nvSpPr>
        <p:spPr>
          <a:xfrm>
            <a:off x="2230580" y="213032"/>
            <a:ext cx="3577937" cy="5767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FFFF00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endParaRPr lang="en-ID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06F9D41-8F07-4274-8BAF-C0886F6439C1}"/>
              </a:ext>
            </a:extLst>
          </p:cNvPr>
          <p:cNvSpPr txBox="1">
            <a:spLocks/>
          </p:cNvSpPr>
          <p:nvPr/>
        </p:nvSpPr>
        <p:spPr>
          <a:xfrm>
            <a:off x="3440255" y="427626"/>
            <a:ext cx="3865420" cy="5767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FFFF00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PROGRAM STUDI</a:t>
            </a:r>
            <a:b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SISTEM INFORMASI</a:t>
            </a:r>
            <a:endParaRPr lang="en-ID" sz="12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1F5CEC-401E-4E00-A99A-912964B59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5024" y="2285440"/>
            <a:ext cx="5907741" cy="2019860"/>
          </a:xfrm>
        </p:spPr>
        <p:txBody>
          <a:bodyPr>
            <a:normAutofit/>
          </a:bodyPr>
          <a:lstStyle/>
          <a:p>
            <a:r>
              <a:rPr lang="en-US" dirty="0" smtClean="0"/>
              <a:t>BAHASA HTML 2</a:t>
            </a:r>
            <a:endParaRPr lang="en-ID" dirty="0"/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6255887C-233F-4CCB-8162-74F2F25F242F}"/>
              </a:ext>
            </a:extLst>
          </p:cNvPr>
          <p:cNvSpPr txBox="1">
            <a:spLocks/>
          </p:cNvSpPr>
          <p:nvPr/>
        </p:nvSpPr>
        <p:spPr>
          <a:xfrm>
            <a:off x="8515350" y="665384"/>
            <a:ext cx="3105151" cy="678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Pengantar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W3C HTML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03" y="2040845"/>
            <a:ext cx="3472996" cy="347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54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9892-66A7-4059-BFE8-B1162248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9" y="1270185"/>
            <a:ext cx="5354172" cy="809251"/>
          </a:xfrm>
        </p:spPr>
        <p:txBody>
          <a:bodyPr>
            <a:normAutofit/>
          </a:bodyPr>
          <a:lstStyle/>
          <a:p>
            <a:r>
              <a:rPr lang="en-ID" sz="3200" baseline="1207" dirty="0" err="1">
                <a:cs typeface="Times New Roman"/>
              </a:rPr>
              <a:t>Ca</a:t>
            </a:r>
            <a:r>
              <a:rPr lang="en-ID" sz="3200" spc="-29" baseline="1207" dirty="0" err="1">
                <a:cs typeface="Times New Roman"/>
              </a:rPr>
              <a:t>p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spc="-9" baseline="1207" dirty="0" err="1">
                <a:cs typeface="Times New Roman"/>
              </a:rPr>
              <a:t>i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baseline="1207" dirty="0" err="1">
                <a:cs typeface="Times New Roman"/>
              </a:rPr>
              <a:t>n</a:t>
            </a:r>
            <a:r>
              <a:rPr lang="en-ID" sz="3200" spc="14" baseline="1207" dirty="0">
                <a:cs typeface="Times New Roman"/>
              </a:rPr>
              <a:t> </a:t>
            </a:r>
            <a:r>
              <a:rPr lang="en-ID" sz="3200" spc="-9" baseline="1207" dirty="0" err="1">
                <a:cs typeface="Times New Roman"/>
              </a:rPr>
              <a:t>P</a:t>
            </a:r>
            <a:r>
              <a:rPr lang="en-ID" sz="3200" baseline="1207" dirty="0" err="1">
                <a:cs typeface="Times New Roman"/>
              </a:rPr>
              <a:t>e</a:t>
            </a:r>
            <a:r>
              <a:rPr lang="en-ID" sz="3200" spc="-19" baseline="1207" dirty="0" err="1">
                <a:cs typeface="Times New Roman"/>
              </a:rPr>
              <a:t>m</a:t>
            </a:r>
            <a:r>
              <a:rPr lang="en-ID" sz="3200" spc="-29" baseline="1207" dirty="0" err="1">
                <a:cs typeface="Times New Roman"/>
              </a:rPr>
              <a:t>b</a:t>
            </a:r>
            <a:r>
              <a:rPr lang="en-ID" sz="3200" spc="-14" baseline="1207" dirty="0" err="1">
                <a:cs typeface="Times New Roman"/>
              </a:rPr>
              <a:t>e</a:t>
            </a:r>
            <a:r>
              <a:rPr lang="en-ID" sz="3200" spc="-29" baseline="1207" dirty="0" err="1">
                <a:cs typeface="Times New Roman"/>
              </a:rPr>
              <a:t>l</a:t>
            </a:r>
            <a:r>
              <a:rPr lang="en-ID" sz="3200" spc="-19" baseline="1207" dirty="0" err="1">
                <a:cs typeface="Times New Roman"/>
              </a:rPr>
              <a:t>a</a:t>
            </a:r>
            <a:r>
              <a:rPr lang="en-ID" sz="3200" spc="-29" baseline="1207" dirty="0" err="1">
                <a:cs typeface="Times New Roman"/>
              </a:rPr>
              <a:t>j</a:t>
            </a:r>
            <a:r>
              <a:rPr lang="en-ID" sz="3200" spc="-19" baseline="1207" dirty="0" err="1">
                <a:cs typeface="Times New Roman"/>
              </a:rPr>
              <a:t>a</a:t>
            </a:r>
            <a:r>
              <a:rPr lang="en-ID" sz="3200" spc="-25" baseline="1207" dirty="0" err="1">
                <a:cs typeface="Times New Roman"/>
              </a:rPr>
              <a:t>r</a:t>
            </a:r>
            <a:r>
              <a:rPr lang="en-ID" sz="3200" spc="-34" baseline="1207" dirty="0" err="1">
                <a:cs typeface="Times New Roman"/>
              </a:rPr>
              <a:t>a</a:t>
            </a:r>
            <a:r>
              <a:rPr lang="en-ID" sz="3200" baseline="1207" dirty="0" err="1">
                <a:cs typeface="Times New Roman"/>
              </a:rPr>
              <a:t>n</a:t>
            </a:r>
            <a:endParaRPr lang="en-ID" sz="3200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C16DE-9637-4540-AC44-136E2A9F7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410" y="1998715"/>
            <a:ext cx="8534904" cy="1876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 smtClean="0"/>
              <a:t>Mahasiswa</a:t>
            </a:r>
            <a:r>
              <a:rPr lang="en-US" sz="1600" dirty="0" smtClean="0"/>
              <a:t> </a:t>
            </a:r>
            <a:r>
              <a:rPr lang="en-US" sz="1600" dirty="0" err="1" smtClean="0"/>
              <a:t>memahami</a:t>
            </a:r>
            <a:r>
              <a:rPr lang="en-US" sz="1600" dirty="0" smtClean="0"/>
              <a:t> </a:t>
            </a:r>
            <a:r>
              <a:rPr lang="en-US" sz="1600" dirty="0" err="1" smtClean="0"/>
              <a:t>dasar-dasar</a:t>
            </a:r>
            <a:r>
              <a:rPr lang="en-US" sz="1600" dirty="0" smtClean="0"/>
              <a:t> </a:t>
            </a:r>
            <a:r>
              <a:rPr lang="en-US" sz="1600" dirty="0" err="1" smtClean="0"/>
              <a:t>bahasa</a:t>
            </a:r>
            <a:r>
              <a:rPr lang="en-US" sz="1600" dirty="0" smtClean="0"/>
              <a:t> HTML</a:t>
            </a:r>
            <a:endParaRPr lang="en-ID" sz="1400" dirty="0"/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B539B913-656A-4855-BB9F-7EDD901C5AFB}"/>
              </a:ext>
            </a:extLst>
          </p:cNvPr>
          <p:cNvSpPr txBox="1">
            <a:spLocks/>
          </p:cNvSpPr>
          <p:nvPr/>
        </p:nvSpPr>
        <p:spPr>
          <a:xfrm>
            <a:off x="1587101" y="2982562"/>
            <a:ext cx="5354172" cy="809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Signika" panose="02010003020600000004" pitchFamily="2" charset="0"/>
                <a:ea typeface="+mj-ea"/>
                <a:cs typeface="+mj-cs"/>
              </a:defRPr>
            </a:lvl1pPr>
          </a:lstStyle>
          <a:p>
            <a:r>
              <a:rPr lang="en-ID" sz="3200" baseline="1207" dirty="0" err="1">
                <a:cs typeface="Times New Roman"/>
              </a:rPr>
              <a:t>Kemampuan</a:t>
            </a:r>
            <a:r>
              <a:rPr lang="en-ID" sz="3200" baseline="1207" dirty="0">
                <a:cs typeface="Times New Roman"/>
              </a:rPr>
              <a:t> Akhir yang </a:t>
            </a:r>
            <a:r>
              <a:rPr lang="en-ID" sz="3200" baseline="1207" dirty="0" err="1">
                <a:cs typeface="Times New Roman"/>
              </a:rPr>
              <a:t>Diharapkan</a:t>
            </a:r>
            <a:endParaRPr lang="en-ID" sz="3200" dirty="0">
              <a:solidFill>
                <a:srgbClr val="FFFF00"/>
              </a:solidFill>
            </a:endParaRP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FB3AE7A1-F012-4542-A649-7AB7CDD493BB}"/>
              </a:ext>
            </a:extLst>
          </p:cNvPr>
          <p:cNvSpPr txBox="1">
            <a:spLocks/>
          </p:cNvSpPr>
          <p:nvPr/>
        </p:nvSpPr>
        <p:spPr>
          <a:xfrm>
            <a:off x="1872386" y="3762887"/>
            <a:ext cx="5210585" cy="218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 smtClean="0"/>
              <a:t>Mahasiswa</a:t>
            </a:r>
            <a:r>
              <a:rPr lang="en-US" sz="1600" dirty="0" smtClean="0"/>
              <a:t> </a:t>
            </a:r>
            <a:r>
              <a:rPr lang="en-US" sz="1600" dirty="0" err="1" smtClean="0"/>
              <a:t>dapat</a:t>
            </a:r>
            <a:r>
              <a:rPr lang="en-US" sz="1600" dirty="0" smtClean="0"/>
              <a:t> </a:t>
            </a:r>
            <a:r>
              <a:rPr lang="en-US" sz="1600" dirty="0" err="1" smtClean="0"/>
              <a:t>membuat</a:t>
            </a:r>
            <a:r>
              <a:rPr lang="en-US" sz="1600" dirty="0" smtClean="0"/>
              <a:t> </a:t>
            </a:r>
            <a:r>
              <a:rPr lang="en-US" sz="1600" dirty="0" err="1"/>
              <a:t>d</a:t>
            </a:r>
            <a:r>
              <a:rPr lang="en-US" sz="1600" dirty="0" err="1" smtClean="0"/>
              <a:t>okumen</a:t>
            </a:r>
            <a:r>
              <a:rPr lang="en-US" sz="1600" dirty="0" smtClean="0"/>
              <a:t> HTML </a:t>
            </a:r>
            <a:r>
              <a:rPr lang="en-US" sz="1600" dirty="0" err="1" smtClean="0"/>
              <a:t>menggunakan</a:t>
            </a:r>
            <a:r>
              <a:rPr lang="en-US" sz="1600" dirty="0" smtClean="0"/>
              <a:t> tag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atribut</a:t>
            </a:r>
            <a:r>
              <a:rPr lang="en-US" sz="1600" dirty="0" smtClean="0"/>
              <a:t> html  </a:t>
            </a:r>
            <a:r>
              <a:rPr lang="en-US" sz="1600" dirty="0" err="1" smtClean="0"/>
              <a:t>secara</a:t>
            </a:r>
            <a:r>
              <a:rPr lang="en-US" sz="1600" dirty="0" smtClean="0"/>
              <a:t> </a:t>
            </a:r>
            <a:r>
              <a:rPr lang="en-US" sz="1600" dirty="0" err="1" smtClean="0"/>
              <a:t>benar</a:t>
            </a:r>
            <a:endParaRPr lang="en-US" sz="1600" dirty="0"/>
          </a:p>
          <a:p>
            <a:endParaRPr lang="en-ID" sz="1600" dirty="0"/>
          </a:p>
        </p:txBody>
      </p:sp>
      <p:sp>
        <p:nvSpPr>
          <p:cNvPr id="80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5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50" name="Picture 2" descr="Mengenal Bahasa Pemrograman HTML | EWD Blog – Web hosting Indonesia |  Hosting Termurah Indonesia | Hosting murah dan tanggu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665" y="3361610"/>
            <a:ext cx="4596275" cy="258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13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 smtClean="0"/>
              <a:t>HTML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</a:t>
            </a:r>
            <a:r>
              <a:rPr lang="en-US" sz="2000" dirty="0" err="1" smtClean="0"/>
              <a:t>utama</a:t>
            </a:r>
            <a:r>
              <a:rPr lang="en-US" sz="2000" dirty="0" smtClean="0"/>
              <a:t> web </a:t>
            </a:r>
            <a:r>
              <a:rPr lang="en-US" sz="2000" dirty="0" err="1" smtClean="0"/>
              <a:t>singkatan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Hypertext Markup Language yang </a:t>
            </a:r>
            <a:r>
              <a:rPr lang="en-US" sz="2000" dirty="0" err="1" smtClean="0"/>
              <a:t>berarti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yang </a:t>
            </a:r>
            <a:r>
              <a:rPr lang="en-US" sz="2000" dirty="0" err="1" smtClean="0"/>
              <a:t>dgunakan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menandai</a:t>
            </a:r>
            <a:r>
              <a:rPr lang="en-US" sz="2000" dirty="0" smtClean="0"/>
              <a:t> (markup)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supaya</a:t>
            </a:r>
            <a:r>
              <a:rPr lang="en-US" sz="2000" dirty="0" smtClean="0"/>
              <a:t> </a:t>
            </a:r>
            <a:r>
              <a:rPr lang="en-US" sz="2000" dirty="0" err="1" smtClean="0"/>
              <a:t>tampil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format </a:t>
            </a:r>
            <a:r>
              <a:rPr lang="en-US" sz="2000" dirty="0" err="1" smtClean="0"/>
              <a:t>tertentu</a:t>
            </a:r>
            <a:r>
              <a:rPr lang="en-US" sz="2000" dirty="0" smtClean="0"/>
              <a:t> (heading, paragraph, link, list, image, table, form, </a:t>
            </a:r>
            <a:r>
              <a:rPr lang="en-US" sz="2000" dirty="0" err="1" smtClean="0"/>
              <a:t>dsb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File HTML </a:t>
            </a:r>
            <a:r>
              <a:rPr lang="en-US" sz="2000" dirty="0" err="1" smtClean="0"/>
              <a:t>disebut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berjenis</a:t>
            </a:r>
            <a:r>
              <a:rPr lang="en-US" sz="2000" dirty="0" smtClean="0"/>
              <a:t> file text (</a:t>
            </a:r>
            <a:r>
              <a:rPr lang="en-US" sz="2000" dirty="0" err="1" smtClean="0"/>
              <a:t>bukan</a:t>
            </a:r>
            <a:r>
              <a:rPr lang="en-US" sz="2000" dirty="0" smtClean="0"/>
              <a:t> exe </a:t>
            </a:r>
            <a:r>
              <a:rPr lang="en-US" sz="2000" dirty="0" err="1" smtClean="0"/>
              <a:t>atau</a:t>
            </a:r>
            <a:r>
              <a:rPr lang="en-US" sz="2000" dirty="0" smtClean="0"/>
              <a:t> com)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dilihat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dipahami</a:t>
            </a:r>
            <a:r>
              <a:rPr lang="en-US" sz="2000" dirty="0" smtClean="0"/>
              <a:t> </a:t>
            </a:r>
            <a:r>
              <a:rPr lang="en-US" sz="2000" dirty="0" err="1" smtClean="0"/>
              <a:t>isinya</a:t>
            </a:r>
            <a:r>
              <a:rPr lang="en-US" sz="2000" dirty="0" smtClean="0"/>
              <a:t> </a:t>
            </a:r>
            <a:r>
              <a:rPr lang="en-US" sz="2000" dirty="0" err="1" smtClean="0"/>
              <a:t>karena</a:t>
            </a:r>
            <a:r>
              <a:rPr lang="en-US" sz="2000" dirty="0" smtClean="0"/>
              <a:t> </a:t>
            </a:r>
            <a:r>
              <a:rPr lang="en-US" sz="2000" dirty="0" err="1" smtClean="0"/>
              <a:t>bukan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</a:t>
            </a:r>
            <a:r>
              <a:rPr lang="en-US" sz="2000" dirty="0" err="1" smtClean="0"/>
              <a:t>mesin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berextension</a:t>
            </a:r>
            <a:r>
              <a:rPr lang="en-US" sz="2000" dirty="0" smtClean="0"/>
              <a:t> .html</a:t>
            </a:r>
          </a:p>
          <a:p>
            <a:r>
              <a:rPr lang="en-US" sz="2000" dirty="0" smtClean="0"/>
              <a:t>Bahasa HTML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kerangka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(</a:t>
            </a:r>
            <a:r>
              <a:rPr lang="en-US" sz="2000" dirty="0" err="1" smtClean="0"/>
              <a:t>bagian-bagian</a:t>
            </a:r>
            <a:r>
              <a:rPr lang="en-US" sz="2000" dirty="0" smtClean="0"/>
              <a:t> </a:t>
            </a:r>
            <a:r>
              <a:rPr lang="en-US" sz="2000" dirty="0" err="1" smtClean="0"/>
              <a:t>dokumen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header, footer, panel side)</a:t>
            </a:r>
          </a:p>
          <a:p>
            <a:r>
              <a:rPr lang="en-US" sz="2000" dirty="0" err="1" smtClean="0"/>
              <a:t>Perintah</a:t>
            </a:r>
            <a:r>
              <a:rPr lang="en-US" sz="2000" dirty="0" smtClean="0"/>
              <a:t> HTML </a:t>
            </a:r>
            <a:r>
              <a:rPr lang="en-US" sz="2000" dirty="0" err="1" smtClean="0"/>
              <a:t>disebut</a:t>
            </a:r>
            <a:r>
              <a:rPr lang="en-US" sz="2000" dirty="0" smtClean="0"/>
              <a:t> tag html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selalu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berpasangan</a:t>
            </a:r>
            <a:r>
              <a:rPr lang="en-US" sz="2000" dirty="0" smtClean="0"/>
              <a:t>, </a:t>
            </a:r>
            <a:r>
              <a:rPr lang="en-US" sz="2000" dirty="0" err="1" smtClean="0"/>
              <a:t>yaitu</a:t>
            </a:r>
            <a:r>
              <a:rPr lang="en-US" sz="2000" dirty="0" smtClean="0"/>
              <a:t>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akhir</a:t>
            </a:r>
            <a:r>
              <a:rPr lang="en-US" sz="2000" dirty="0" smtClean="0"/>
              <a:t>.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akhir</a:t>
            </a:r>
            <a:r>
              <a:rPr lang="en-US" sz="2000" dirty="0" smtClean="0"/>
              <a:t> </a:t>
            </a:r>
            <a:r>
              <a:rPr lang="en-US" sz="2000" dirty="0" err="1" smtClean="0"/>
              <a:t>bernama</a:t>
            </a:r>
            <a:r>
              <a:rPr lang="en-US" sz="2000" dirty="0" smtClean="0"/>
              <a:t> </a:t>
            </a:r>
            <a:r>
              <a:rPr lang="en-US" sz="2000" dirty="0" err="1" smtClean="0"/>
              <a:t>sama</a:t>
            </a:r>
            <a:r>
              <a:rPr lang="en-US" sz="2000" dirty="0" smtClean="0"/>
              <a:t> </a:t>
            </a:r>
            <a:r>
              <a:rPr lang="en-US" sz="2000" dirty="0" err="1" smtClean="0"/>
              <a:t>hanya</a:t>
            </a:r>
            <a:r>
              <a:rPr lang="en-US" sz="2000" dirty="0" smtClean="0"/>
              <a:t> </a:t>
            </a:r>
            <a:r>
              <a:rPr lang="en-US" sz="2000" dirty="0" err="1" smtClean="0"/>
              <a:t>ditambah</a:t>
            </a:r>
            <a:r>
              <a:rPr lang="en-US" sz="2000" dirty="0" smtClean="0"/>
              <a:t> </a:t>
            </a:r>
            <a:r>
              <a:rPr lang="en-US" sz="2000" dirty="0" err="1" smtClean="0"/>
              <a:t>garis</a:t>
            </a:r>
            <a:r>
              <a:rPr lang="en-US" sz="2000" dirty="0" smtClean="0"/>
              <a:t> miring </a:t>
            </a:r>
            <a:r>
              <a:rPr lang="en-US" sz="2000" dirty="0" err="1" smtClean="0"/>
              <a:t>pada</a:t>
            </a:r>
            <a:r>
              <a:rPr lang="en-US" sz="2000" dirty="0" smtClean="0"/>
              <a:t> tag </a:t>
            </a:r>
            <a:r>
              <a:rPr lang="en-US" sz="2000" dirty="0" err="1" smtClean="0"/>
              <a:t>akhir</a:t>
            </a:r>
            <a:r>
              <a:rPr lang="en-US" sz="2000" dirty="0" smtClean="0"/>
              <a:t>. </a:t>
            </a:r>
            <a:r>
              <a:rPr lang="en-US" sz="2000" dirty="0" err="1" smtClean="0"/>
              <a:t>Contoh</a:t>
            </a:r>
            <a:r>
              <a:rPr lang="en-US" sz="2000" dirty="0" smtClean="0"/>
              <a:t>: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&lt;h1&gt;…&lt;/h1&gt;, &lt;p&gt;…&lt;/p&gt;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err="1" smtClean="0"/>
              <a:t>Elemen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tag </a:t>
            </a:r>
            <a:r>
              <a:rPr lang="en-US" sz="2000" dirty="0" err="1" smtClean="0"/>
              <a:t>akhir</a:t>
            </a:r>
            <a:r>
              <a:rPr lang="en-US" sz="2000" dirty="0" smtClean="0"/>
              <a:t> </a:t>
            </a:r>
            <a:r>
              <a:rPr lang="en-US" sz="2000" dirty="0" err="1" smtClean="0"/>
              <a:t>beserta</a:t>
            </a:r>
            <a:r>
              <a:rPr lang="en-US" sz="2000" dirty="0" smtClean="0"/>
              <a:t> </a:t>
            </a:r>
            <a:r>
              <a:rPr lang="en-US" sz="2000" dirty="0" err="1" smtClean="0"/>
              <a:t>isinya</a:t>
            </a:r>
            <a:r>
              <a:rPr lang="en-US" sz="2000" dirty="0" smtClean="0"/>
              <a:t>. </a:t>
            </a:r>
            <a:r>
              <a:rPr lang="en-US" sz="2000" dirty="0" err="1" smtClean="0"/>
              <a:t>Misalnya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paragraph: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&lt;p&gt; </a:t>
            </a:r>
            <a:r>
              <a:rPr lang="en-US" sz="1800" dirty="0" err="1" smtClean="0">
                <a:solidFill>
                  <a:srgbClr val="0070C0"/>
                </a:solidFill>
              </a:rPr>
              <a:t>Ini</a:t>
            </a:r>
            <a:r>
              <a:rPr lang="en-US" sz="1800" dirty="0" smtClean="0">
                <a:solidFill>
                  <a:srgbClr val="0070C0"/>
                </a:solidFill>
              </a:rPr>
              <a:t> paragraph &lt;/p&gt; </a:t>
            </a: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09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html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13612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Bahasa HTML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fungsinya</a:t>
            </a:r>
            <a:r>
              <a:rPr lang="en-US" sz="2000" dirty="0" smtClean="0"/>
              <a:t> </a:t>
            </a:r>
            <a:r>
              <a:rPr lang="en-US" sz="2000" dirty="0" err="1" smtClean="0"/>
              <a:t>masing-masing</a:t>
            </a:r>
            <a:r>
              <a:rPr lang="en-US" sz="2000" dirty="0" smtClean="0"/>
              <a:t>. </a:t>
            </a:r>
            <a:r>
              <a:rPr lang="en-US" sz="2000" dirty="0" err="1" smtClean="0"/>
              <a:t>Cukup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namun</a:t>
            </a:r>
            <a:r>
              <a:rPr lang="en-US" sz="2000" dirty="0" smtClean="0"/>
              <a:t> yang </a:t>
            </a:r>
            <a:r>
              <a:rPr lang="en-US" sz="2000" dirty="0" err="1" smtClean="0"/>
              <a:t>sering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adalah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Heading &lt;</a:t>
            </a:r>
            <a:r>
              <a:rPr lang="en-US" sz="2000" dirty="0" err="1" smtClean="0"/>
              <a:t>hn</a:t>
            </a:r>
            <a:r>
              <a:rPr lang="en-US" sz="2000" dirty="0" smtClean="0"/>
              <a:t>&gt;</a:t>
            </a:r>
          </a:p>
          <a:p>
            <a:r>
              <a:rPr lang="en-US" sz="2000" dirty="0" err="1" smtClean="0"/>
              <a:t>Paragrap</a:t>
            </a:r>
            <a:r>
              <a:rPr lang="en-US" sz="2000" dirty="0" smtClean="0"/>
              <a:t> &lt;p&gt;</a:t>
            </a:r>
          </a:p>
          <a:p>
            <a:r>
              <a:rPr lang="en-US" sz="2000" dirty="0" smtClean="0"/>
              <a:t>Link &lt;a&gt;</a:t>
            </a:r>
          </a:p>
          <a:p>
            <a:r>
              <a:rPr lang="en-US" sz="2000" dirty="0" smtClean="0"/>
              <a:t>Image &lt;</a:t>
            </a:r>
            <a:r>
              <a:rPr lang="en-US" sz="2000" dirty="0" err="1" smtClean="0"/>
              <a:t>img</a:t>
            </a:r>
            <a:r>
              <a:rPr lang="en-US" sz="2000" dirty="0" smtClean="0"/>
              <a:t>&gt;</a:t>
            </a:r>
          </a:p>
          <a:p>
            <a:r>
              <a:rPr lang="en-US" sz="2000" dirty="0" smtClean="0"/>
              <a:t>List &lt;</a:t>
            </a:r>
            <a:r>
              <a:rPr lang="en-US" sz="2000" dirty="0" err="1" smtClean="0"/>
              <a:t>ul</a:t>
            </a:r>
            <a:r>
              <a:rPr lang="en-US" sz="2000" dirty="0" smtClean="0"/>
              <a:t>&gt; </a:t>
            </a:r>
            <a:r>
              <a:rPr lang="en-US" sz="2000" dirty="0" err="1" smtClean="0"/>
              <a:t>dan</a:t>
            </a:r>
            <a:r>
              <a:rPr lang="en-US" sz="2000" dirty="0" smtClean="0"/>
              <a:t> &lt;</a:t>
            </a:r>
            <a:r>
              <a:rPr lang="en-US" sz="2000" dirty="0" err="1" smtClean="0"/>
              <a:t>ol</a:t>
            </a:r>
            <a:r>
              <a:rPr lang="en-US" sz="2000" dirty="0" smtClean="0"/>
              <a:t>&gt;</a:t>
            </a:r>
          </a:p>
          <a:p>
            <a:r>
              <a:rPr lang="en-US" sz="2000" dirty="0" smtClean="0"/>
              <a:t>Table &lt;table&gt;</a:t>
            </a:r>
          </a:p>
          <a:p>
            <a:r>
              <a:rPr lang="en-US" sz="2000" dirty="0" smtClean="0"/>
              <a:t>Form &lt;form&gt;</a:t>
            </a:r>
          </a:p>
          <a:p>
            <a:r>
              <a:rPr lang="en-US" sz="2000" dirty="0" smtClean="0"/>
              <a:t>Division &lt;div&gt;</a:t>
            </a:r>
          </a:p>
          <a:p>
            <a:r>
              <a:rPr lang="en-US" sz="2000" dirty="0" smtClean="0"/>
              <a:t>Span &lt;span&gt;</a:t>
            </a:r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4" name="Picture 4" descr="http://cdn.skyje.com/wp-content/uploads/2014/02/attention.jpg"/>
          <p:cNvPicPr>
            <a:picLocks noChangeAspect="1" noChangeArrowheads="1"/>
          </p:cNvPicPr>
          <p:nvPr/>
        </p:nvPicPr>
        <p:blipFill>
          <a:blip r:embed="rId2"/>
          <a:srcRect l="15278" r="11111"/>
          <a:stretch>
            <a:fillRect/>
          </a:stretch>
        </p:blipFill>
        <p:spPr bwMode="auto">
          <a:xfrm>
            <a:off x="8188104" y="2833939"/>
            <a:ext cx="3786214" cy="3429000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2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8026223" cy="422823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lebih</a:t>
            </a:r>
            <a:r>
              <a:rPr lang="en-US" sz="2000" dirty="0" smtClean="0"/>
              <a:t> </a:t>
            </a:r>
            <a:r>
              <a:rPr lang="en-US" sz="2000" dirty="0" err="1" smtClean="0"/>
              <a:t>menarik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. </a:t>
            </a:r>
            <a:r>
              <a:rPr lang="en-US" sz="2000" dirty="0" err="1" smtClean="0"/>
              <a:t>Tetapi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penggunaannya</a:t>
            </a:r>
            <a:r>
              <a:rPr lang="en-US" sz="2000" dirty="0" smtClean="0"/>
              <a:t> </a:t>
            </a:r>
            <a:r>
              <a:rPr lang="en-US" sz="2000" dirty="0" err="1" smtClean="0"/>
              <a:t>mesti</a:t>
            </a:r>
            <a:r>
              <a:rPr lang="en-US" sz="2000" dirty="0" smtClean="0"/>
              <a:t> </a:t>
            </a:r>
            <a:r>
              <a:rPr lang="en-US" sz="2000" dirty="0" err="1" smtClean="0"/>
              <a:t>tepat</a:t>
            </a:r>
            <a:r>
              <a:rPr lang="en-US" sz="2000" dirty="0" smtClean="0"/>
              <a:t>,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ada</a:t>
            </a:r>
            <a:r>
              <a:rPr lang="en-US" sz="2000" dirty="0" smtClean="0"/>
              <a:t> </a:t>
            </a:r>
            <a:r>
              <a:rPr lang="en-US" sz="2000" dirty="0" err="1" smtClean="0"/>
              <a:t>fungsi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tujuannya</a:t>
            </a:r>
            <a:r>
              <a:rPr lang="en-US" sz="2000" dirty="0" smtClean="0"/>
              <a:t> </a:t>
            </a:r>
            <a:r>
              <a:rPr lang="en-US" sz="2000" dirty="0" err="1" smtClean="0"/>
              <a:t>karena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mempengaruhi</a:t>
            </a:r>
            <a:r>
              <a:rPr lang="en-US" sz="2000" dirty="0" smtClean="0"/>
              <a:t> </a:t>
            </a:r>
            <a:r>
              <a:rPr lang="en-US" sz="2000" dirty="0" err="1" smtClean="0"/>
              <a:t>waktu</a:t>
            </a:r>
            <a:r>
              <a:rPr lang="en-US" sz="2000" dirty="0" smtClean="0"/>
              <a:t> </a:t>
            </a:r>
            <a:r>
              <a:rPr lang="en-US" sz="2000" dirty="0" err="1" smtClean="0"/>
              <a:t>memuat</a:t>
            </a:r>
            <a:r>
              <a:rPr lang="en-US" sz="2000" dirty="0" smtClean="0"/>
              <a:t> (loading)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web. </a:t>
            </a:r>
            <a:r>
              <a:rPr lang="en-US" sz="2000" dirty="0" err="1" smtClean="0"/>
              <a:t>Semakin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besar</a:t>
            </a:r>
            <a:r>
              <a:rPr lang="en-US" sz="2000" dirty="0" smtClean="0"/>
              <a:t> </a:t>
            </a:r>
            <a:r>
              <a:rPr lang="en-US" sz="2000" dirty="0" err="1" smtClean="0"/>
              <a:t>ukuran</a:t>
            </a:r>
            <a:r>
              <a:rPr lang="en-US" sz="2000" dirty="0" smtClean="0"/>
              <a:t> </a:t>
            </a:r>
            <a:r>
              <a:rPr lang="en-US" sz="2000" dirty="0" err="1" smtClean="0"/>
              <a:t>filenya</a:t>
            </a:r>
            <a:r>
              <a:rPr lang="en-US" sz="2000" dirty="0" smtClean="0"/>
              <a:t> </a:t>
            </a:r>
            <a:r>
              <a:rPr lang="en-US" sz="2000" dirty="0" err="1" smtClean="0"/>
              <a:t>semakin</a:t>
            </a:r>
            <a:r>
              <a:rPr lang="en-US" sz="2000" dirty="0" smtClean="0"/>
              <a:t> lama </a:t>
            </a:r>
            <a:r>
              <a:rPr lang="en-US" sz="2000" dirty="0" err="1" smtClean="0"/>
              <a:t>waktu</a:t>
            </a:r>
            <a:r>
              <a:rPr lang="en-US" sz="2000" dirty="0" smtClean="0"/>
              <a:t> </a:t>
            </a:r>
            <a:r>
              <a:rPr lang="en-US" sz="2000" dirty="0" err="1" smtClean="0"/>
              <a:t>memuat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Ukuran</a:t>
            </a:r>
            <a:r>
              <a:rPr lang="en-US" sz="2000" dirty="0" smtClean="0"/>
              <a:t> file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sebaiknya</a:t>
            </a:r>
            <a:r>
              <a:rPr lang="en-US" sz="2000" dirty="0" smtClean="0"/>
              <a:t> </a:t>
            </a:r>
            <a:r>
              <a:rPr lang="en-US" sz="2000" dirty="0" err="1" smtClean="0"/>
              <a:t>antara</a:t>
            </a:r>
            <a:r>
              <a:rPr lang="en-US" sz="2000" dirty="0" smtClean="0"/>
              <a:t> 1-5 MB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jenis-jenis</a:t>
            </a:r>
            <a:r>
              <a:rPr lang="en-US" sz="2000" dirty="0" smtClean="0"/>
              <a:t> file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yang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jpg, </a:t>
            </a:r>
            <a:r>
              <a:rPr lang="en-US" sz="2000" dirty="0" err="1" smtClean="0"/>
              <a:t>png</a:t>
            </a:r>
            <a:r>
              <a:rPr lang="en-US" sz="2000" dirty="0" smtClean="0"/>
              <a:t>, </a:t>
            </a:r>
            <a:r>
              <a:rPr lang="en-US" sz="2000" dirty="0" err="1" smtClean="0"/>
              <a:t>dan</a:t>
            </a:r>
            <a:r>
              <a:rPr lang="en-US" sz="2000" dirty="0" smtClean="0"/>
              <a:t> gif.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Tag yang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&lt;</a:t>
            </a:r>
            <a:r>
              <a:rPr lang="en-US" sz="2000" dirty="0" err="1" smtClean="0"/>
              <a:t>img</a:t>
            </a:r>
            <a:r>
              <a:rPr lang="en-US" sz="2000" dirty="0" smtClean="0"/>
              <a:t>&gt;: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&lt;</a:t>
            </a:r>
            <a:r>
              <a:rPr lang="en-US" sz="2000" dirty="0" err="1" smtClean="0">
                <a:solidFill>
                  <a:srgbClr val="0070C0"/>
                </a:solidFill>
              </a:rPr>
              <a:t>img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src</a:t>
            </a:r>
            <a:r>
              <a:rPr lang="en-US" sz="2000" dirty="0" smtClean="0">
                <a:solidFill>
                  <a:srgbClr val="0070C0"/>
                </a:solidFill>
              </a:rPr>
              <a:t>=“udinus.jpg” alt=“</a:t>
            </a:r>
            <a:r>
              <a:rPr lang="en-US" sz="2000" dirty="0" err="1" smtClean="0">
                <a:solidFill>
                  <a:srgbClr val="0070C0"/>
                </a:solidFill>
              </a:rPr>
              <a:t>Profil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Udinus</a:t>
            </a:r>
            <a:r>
              <a:rPr lang="en-US" sz="2000" dirty="0" smtClean="0">
                <a:solidFill>
                  <a:srgbClr val="0070C0"/>
                </a:solidFill>
              </a:rPr>
              <a:t>”&gt;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tag html </a:t>
            </a:r>
            <a:r>
              <a:rPr lang="en-US" sz="2000" dirty="0" err="1" smtClean="0"/>
              <a:t>lainnya</a:t>
            </a:r>
            <a:r>
              <a:rPr lang="en-US" sz="2000" dirty="0" smtClean="0"/>
              <a:t>, tag &lt;</a:t>
            </a:r>
            <a:r>
              <a:rPr lang="en-US" sz="2000" dirty="0" err="1" smtClean="0"/>
              <a:t>img</a:t>
            </a:r>
            <a:r>
              <a:rPr lang="en-US" sz="2000" dirty="0" smtClean="0"/>
              <a:t>&gt;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berpasangan</a:t>
            </a:r>
            <a:r>
              <a:rPr lang="en-US" sz="2000" dirty="0" smtClean="0"/>
              <a:t> alias empty tag. Ada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diperlukan</a:t>
            </a:r>
            <a:r>
              <a:rPr lang="en-US" sz="2000" dirty="0" smtClean="0"/>
              <a:t>:</a:t>
            </a:r>
          </a:p>
          <a:p>
            <a:r>
              <a:rPr lang="en-US" sz="2000" b="1" dirty="0" err="1" smtClean="0"/>
              <a:t>Src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lokasi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nama</a:t>
            </a:r>
            <a:r>
              <a:rPr lang="en-US" sz="2000" dirty="0" smtClean="0"/>
              <a:t> file </a:t>
            </a:r>
            <a:r>
              <a:rPr lang="en-US" sz="2000" dirty="0" err="1" smtClean="0"/>
              <a:t>gambar</a:t>
            </a:r>
            <a:endParaRPr lang="en-US" sz="2000" dirty="0" smtClean="0"/>
          </a:p>
          <a:p>
            <a:r>
              <a:rPr lang="en-US" sz="2000" b="1" dirty="0" smtClean="0"/>
              <a:t>Alt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pengganti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seandainya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karena</a:t>
            </a:r>
            <a:r>
              <a:rPr lang="en-US" sz="2000" dirty="0" smtClean="0"/>
              <a:t> </a:t>
            </a:r>
            <a:r>
              <a:rPr lang="en-US" sz="2000" dirty="0" err="1" smtClean="0"/>
              <a:t>koneksi</a:t>
            </a:r>
            <a:r>
              <a:rPr lang="en-US" sz="2000" dirty="0" smtClean="0"/>
              <a:t> </a:t>
            </a:r>
            <a:r>
              <a:rPr lang="en-US" sz="2000" dirty="0" err="1" smtClean="0"/>
              <a:t>lambat</a:t>
            </a:r>
            <a:r>
              <a:rPr lang="en-US" sz="2000" dirty="0" smtClean="0"/>
              <a:t>, error </a:t>
            </a:r>
            <a:r>
              <a:rPr lang="en-US" sz="2000" dirty="0" err="1" smtClean="0"/>
              <a:t>pada</a:t>
            </a:r>
            <a:r>
              <a:rPr lang="en-US" sz="2000" dirty="0" smtClean="0"/>
              <a:t> file </a:t>
            </a:r>
            <a:r>
              <a:rPr lang="en-US" sz="2000" dirty="0" err="1" smtClean="0"/>
              <a:t>gambar</a:t>
            </a:r>
            <a:r>
              <a:rPr lang="en-US" sz="2000" dirty="0" smtClean="0"/>
              <a:t>,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 </a:t>
            </a:r>
            <a:r>
              <a:rPr lang="en-US" sz="2000" dirty="0" err="1" smtClean="0"/>
              <a:t>memakai</a:t>
            </a:r>
            <a:r>
              <a:rPr lang="en-US" sz="2000" dirty="0" smtClean="0"/>
              <a:t> screen reader.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8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Mengatur</a:t>
            </a:r>
            <a:r>
              <a:rPr lang="en-US" dirty="0" smtClean="0"/>
              <a:t> </a:t>
            </a:r>
            <a:r>
              <a:rPr lang="en-US" dirty="0" err="1"/>
              <a:t>U</a:t>
            </a:r>
            <a:r>
              <a:rPr lang="en-US" dirty="0" err="1" smtClean="0"/>
              <a:t>kuran</a:t>
            </a:r>
            <a:r>
              <a:rPr lang="en-US" dirty="0" smtClean="0"/>
              <a:t> Image di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726867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Sebaiknya</a:t>
            </a:r>
            <a:r>
              <a:rPr lang="en-US" sz="2000" dirty="0" smtClean="0"/>
              <a:t> </a:t>
            </a:r>
            <a:r>
              <a:rPr lang="en-US" sz="2000" dirty="0" err="1" smtClean="0"/>
              <a:t>ukuran</a:t>
            </a:r>
            <a:r>
              <a:rPr lang="en-US" sz="2000" dirty="0" smtClean="0"/>
              <a:t> image </a:t>
            </a:r>
            <a:r>
              <a:rPr lang="en-US" sz="2000" dirty="0" err="1" smtClean="0"/>
              <a:t>ditentukan</a:t>
            </a:r>
            <a:r>
              <a:rPr lang="en-US" sz="2000" dirty="0" smtClean="0"/>
              <a:t> agar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diload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mengalami</a:t>
            </a:r>
            <a:r>
              <a:rPr lang="en-US" sz="2000" dirty="0" smtClean="0"/>
              <a:t> flicker.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dilakukan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style</a:t>
            </a:r>
          </a:p>
          <a:p>
            <a:pPr marL="0" indent="0">
              <a:buNone/>
            </a:pPr>
            <a:endParaRPr lang="en-US" sz="2000" dirty="0"/>
          </a:p>
          <a:p>
            <a:pPr marL="0" lvl="1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&lt;</a:t>
            </a:r>
            <a:r>
              <a:rPr lang="en-US" sz="1800" dirty="0" err="1">
                <a:solidFill>
                  <a:srgbClr val="0070C0"/>
                </a:solidFill>
              </a:rPr>
              <a:t>img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src</a:t>
            </a:r>
            <a:r>
              <a:rPr lang="en-US" sz="1800" dirty="0">
                <a:solidFill>
                  <a:srgbClr val="0070C0"/>
                </a:solidFill>
              </a:rPr>
              <a:t>=“udinus.jpg” alt=“</a:t>
            </a:r>
            <a:r>
              <a:rPr lang="en-US" sz="1800" dirty="0" err="1">
                <a:solidFill>
                  <a:srgbClr val="0070C0"/>
                </a:solidFill>
              </a:rPr>
              <a:t>Profil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Udinus</a:t>
            </a:r>
            <a:r>
              <a:rPr lang="en-US" sz="1800" dirty="0" smtClean="0">
                <a:solidFill>
                  <a:srgbClr val="0070C0"/>
                </a:solidFill>
              </a:rPr>
              <a:t>” style=“</a:t>
            </a:r>
            <a:r>
              <a:rPr lang="en-US" sz="1800" dirty="0" smtClean="0">
                <a:solidFill>
                  <a:srgbClr val="FF0000"/>
                </a:solidFill>
              </a:rPr>
              <a:t>width</a:t>
            </a:r>
            <a:r>
              <a:rPr lang="en-US" sz="1800" dirty="0" smtClean="0">
                <a:solidFill>
                  <a:srgbClr val="0070C0"/>
                </a:solidFill>
              </a:rPr>
              <a:t>:500px; </a:t>
            </a:r>
            <a:r>
              <a:rPr lang="en-US" sz="1800" dirty="0" smtClean="0">
                <a:solidFill>
                  <a:srgbClr val="FF0000"/>
                </a:solidFill>
              </a:rPr>
              <a:t>height</a:t>
            </a:r>
            <a:r>
              <a:rPr lang="en-US" sz="1800" dirty="0" smtClean="0">
                <a:solidFill>
                  <a:srgbClr val="0070C0"/>
                </a:solidFill>
              </a:rPr>
              <a:t>:600px;”&gt;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Penggunaan</a:t>
            </a:r>
            <a:r>
              <a:rPr lang="en-US" sz="2000" dirty="0" smtClean="0"/>
              <a:t> property </a:t>
            </a:r>
            <a:r>
              <a:rPr lang="en-US" sz="2000" b="1" dirty="0" smtClean="0"/>
              <a:t>width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b="1" dirty="0" smtClean="0"/>
              <a:t>height</a:t>
            </a:r>
            <a:r>
              <a:rPr lang="en-US" sz="2000" dirty="0" smtClean="0"/>
              <a:t> </a:t>
            </a:r>
            <a:r>
              <a:rPr lang="en-US" sz="2000" dirty="0" err="1" smtClean="0"/>
              <a:t>sebaiknya</a:t>
            </a:r>
            <a:r>
              <a:rPr lang="en-US" sz="2000" dirty="0" smtClean="0"/>
              <a:t> </a:t>
            </a:r>
            <a:r>
              <a:rPr lang="en-US" sz="2000" dirty="0" err="1" smtClean="0"/>
              <a:t>salah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saja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menghindari</a:t>
            </a:r>
            <a:r>
              <a:rPr lang="en-US" sz="2000" dirty="0" smtClean="0"/>
              <a:t> </a:t>
            </a:r>
            <a:r>
              <a:rPr lang="en-US" sz="2000" dirty="0" err="1" smtClean="0"/>
              <a:t>rasio</a:t>
            </a:r>
            <a:r>
              <a:rPr lang="en-US" sz="2000" dirty="0" smtClean="0"/>
              <a:t> </a:t>
            </a:r>
            <a:r>
              <a:rPr lang="en-US" sz="2000" dirty="0" err="1" smtClean="0"/>
              <a:t>tinggi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lebar</a:t>
            </a:r>
            <a:r>
              <a:rPr lang="en-US" sz="2000" dirty="0" smtClean="0"/>
              <a:t> </a:t>
            </a:r>
            <a:r>
              <a:rPr lang="en-US" sz="2000" dirty="0" err="1" smtClean="0"/>
              <a:t>asli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berubah</a:t>
            </a:r>
            <a:r>
              <a:rPr lang="en-US" sz="2000" dirty="0" smtClean="0"/>
              <a:t> (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proporsional</a:t>
            </a:r>
            <a:r>
              <a:rPr lang="en-US" sz="2000" dirty="0" smtClean="0"/>
              <a:t>, </a:t>
            </a:r>
            <a:r>
              <a:rPr lang="en-US" sz="2000" dirty="0" err="1" smtClean="0"/>
              <a:t>terlihat</a:t>
            </a:r>
            <a:r>
              <a:rPr lang="en-US" sz="2000" dirty="0" smtClean="0"/>
              <a:t> ‘</a:t>
            </a:r>
            <a:r>
              <a:rPr lang="en-US" sz="2000" dirty="0" err="1" smtClean="0"/>
              <a:t>gepeng</a:t>
            </a:r>
            <a:r>
              <a:rPr lang="en-US" sz="2000" dirty="0" smtClean="0"/>
              <a:t>’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pecah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Timothy Gatenby | Stretched Mario | Art collection online for sale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795" y="4214148"/>
            <a:ext cx="2594882" cy="204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c 12"/>
          <p:cNvSpPr/>
          <p:nvPr/>
        </p:nvSpPr>
        <p:spPr>
          <a:xfrm rot="11037062">
            <a:off x="5063906" y="4573091"/>
            <a:ext cx="5377414" cy="1422400"/>
          </a:xfrm>
          <a:prstGeom prst="arc">
            <a:avLst>
              <a:gd name="adj1" fmla="val 12307929"/>
              <a:gd name="adj2" fmla="val 21480930"/>
            </a:avLst>
          </a:prstGeom>
          <a:ln w="3810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4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Membuat</a:t>
            </a:r>
            <a:r>
              <a:rPr lang="en-US" dirty="0" smtClean="0"/>
              <a:t> Image </a:t>
            </a:r>
            <a:r>
              <a:rPr lang="en-US" dirty="0" err="1" smtClean="0"/>
              <a:t>Jadi</a:t>
            </a:r>
            <a:r>
              <a:rPr lang="en-US" dirty="0" smtClean="0"/>
              <a:t> 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726867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Suatu</a:t>
            </a:r>
            <a:r>
              <a:rPr lang="en-US" sz="2000" dirty="0" smtClean="0"/>
              <a:t> link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berupa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jadi</a:t>
            </a:r>
            <a:r>
              <a:rPr lang="en-US" sz="2000" dirty="0" smtClean="0"/>
              <a:t> link </a:t>
            </a:r>
            <a:r>
              <a:rPr lang="en-US" sz="2000" dirty="0" err="1" smtClean="0"/>
              <a:t>tempatkan</a:t>
            </a:r>
            <a:r>
              <a:rPr lang="en-US" sz="2000" dirty="0" smtClean="0"/>
              <a:t> tag &lt;</a:t>
            </a:r>
            <a:r>
              <a:rPr lang="en-US" sz="2000" dirty="0" err="1" smtClean="0"/>
              <a:t>img</a:t>
            </a:r>
            <a:r>
              <a:rPr lang="en-US" sz="2000" dirty="0" smtClean="0"/>
              <a:t>&gt; </a:t>
            </a:r>
            <a:r>
              <a:rPr lang="en-US" sz="2000" dirty="0" err="1" smtClean="0"/>
              <a:t>didalam</a:t>
            </a:r>
            <a:r>
              <a:rPr lang="en-US" sz="2000" dirty="0" smtClean="0"/>
              <a:t> tag &lt;a&gt;: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&lt;a </a:t>
            </a:r>
            <a:r>
              <a:rPr lang="en-US" sz="1800" dirty="0" err="1" smtClean="0">
                <a:solidFill>
                  <a:srgbClr val="0070C0"/>
                </a:solidFill>
              </a:rPr>
              <a:t>href</a:t>
            </a:r>
            <a:r>
              <a:rPr lang="en-US" sz="1800" dirty="0" smtClean="0">
                <a:solidFill>
                  <a:srgbClr val="0070C0"/>
                </a:solidFill>
              </a:rPr>
              <a:t>=“profiludinus.html”&gt;</a:t>
            </a:r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   &lt;</a:t>
            </a:r>
            <a:r>
              <a:rPr lang="en-US" sz="1800" dirty="0" err="1" smtClean="0">
                <a:solidFill>
                  <a:srgbClr val="0070C0"/>
                </a:solidFill>
              </a:rPr>
              <a:t>img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src</a:t>
            </a:r>
            <a:r>
              <a:rPr lang="en-US" sz="1800" dirty="0">
                <a:solidFill>
                  <a:srgbClr val="0070C0"/>
                </a:solidFill>
              </a:rPr>
              <a:t>=“udinus.jpg” alt=“</a:t>
            </a:r>
            <a:r>
              <a:rPr lang="en-US" sz="1800" dirty="0" err="1">
                <a:solidFill>
                  <a:srgbClr val="0070C0"/>
                </a:solidFill>
              </a:rPr>
              <a:t>Profil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Udinus</a:t>
            </a:r>
            <a:r>
              <a:rPr lang="en-US" sz="1800" dirty="0">
                <a:solidFill>
                  <a:srgbClr val="0070C0"/>
                </a:solidFill>
              </a:rPr>
              <a:t>” style=“</a:t>
            </a:r>
            <a:r>
              <a:rPr lang="en-US" sz="1800" dirty="0" smtClean="0">
                <a:solidFill>
                  <a:srgbClr val="0070C0"/>
                </a:solidFill>
              </a:rPr>
              <a:t>width:500px;”&gt;</a:t>
            </a:r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&lt;/a&gt;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19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Mengatur</a:t>
            </a:r>
            <a:r>
              <a:rPr lang="en-US" dirty="0" smtClean="0"/>
              <a:t> </a:t>
            </a:r>
            <a:r>
              <a:rPr lang="en-US" dirty="0" err="1" smtClean="0"/>
              <a:t>Posisi</a:t>
            </a:r>
            <a:r>
              <a:rPr lang="en-US" dirty="0" smtClean="0"/>
              <a:t> Image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Teks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6264909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bersama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, </a:t>
            </a:r>
            <a:r>
              <a:rPr lang="en-US" sz="2000" dirty="0" err="1" smtClean="0"/>
              <a:t>gambar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bisa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di </a:t>
            </a:r>
            <a:r>
              <a:rPr lang="en-US" sz="2000" dirty="0" err="1" smtClean="0"/>
              <a:t>sebelah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itu</a:t>
            </a:r>
            <a:r>
              <a:rPr lang="en-US" sz="2000" dirty="0" smtClean="0"/>
              <a:t> </a:t>
            </a:r>
            <a:r>
              <a:rPr lang="en-US" sz="2000" dirty="0" err="1" smtClean="0"/>
              <a:t>perlu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propert</a:t>
            </a:r>
            <a:r>
              <a:rPr lang="en-US" sz="2000" dirty="0" smtClean="0"/>
              <a:t> CSS </a:t>
            </a:r>
            <a:r>
              <a:rPr lang="en-US" sz="2000" dirty="0" smtClean="0">
                <a:solidFill>
                  <a:schemeClr val="accent1"/>
                </a:solidFill>
              </a:rPr>
              <a:t>float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&lt;p&gt;&lt;</a:t>
            </a:r>
            <a:r>
              <a:rPr lang="en-US" sz="1800" dirty="0" err="1" smtClean="0">
                <a:solidFill>
                  <a:srgbClr val="0070C0"/>
                </a:solidFill>
              </a:rPr>
              <a:t>img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src</a:t>
            </a:r>
            <a:r>
              <a:rPr lang="en-US" sz="1800" dirty="0">
                <a:solidFill>
                  <a:srgbClr val="0070C0"/>
                </a:solidFill>
              </a:rPr>
              <a:t>=“udinus.jpg” alt</a:t>
            </a:r>
            <a:r>
              <a:rPr lang="en-US" sz="1800" dirty="0" smtClean="0">
                <a:solidFill>
                  <a:srgbClr val="0070C0"/>
                </a:solidFill>
              </a:rPr>
              <a:t>=“</a:t>
            </a:r>
            <a:r>
              <a:rPr lang="en-US" sz="1800" dirty="0" err="1" smtClean="0">
                <a:solidFill>
                  <a:srgbClr val="0070C0"/>
                </a:solidFill>
              </a:rPr>
              <a:t>Udinus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Kampus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Swasta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Terbaik</a:t>
            </a:r>
            <a:r>
              <a:rPr lang="en-US" sz="1800" dirty="0" smtClean="0">
                <a:solidFill>
                  <a:srgbClr val="0070C0"/>
                </a:solidFill>
              </a:rPr>
              <a:t>” </a:t>
            </a:r>
            <a:r>
              <a:rPr lang="en-US" sz="1800" dirty="0">
                <a:solidFill>
                  <a:srgbClr val="0070C0"/>
                </a:solidFill>
              </a:rPr>
              <a:t>style</a:t>
            </a:r>
            <a:r>
              <a:rPr lang="en-US" sz="1800" dirty="0" smtClean="0">
                <a:solidFill>
                  <a:srgbClr val="0070C0"/>
                </a:solidFill>
              </a:rPr>
              <a:t>=“</a:t>
            </a:r>
            <a:r>
              <a:rPr lang="en-US" sz="1800" dirty="0" err="1" smtClean="0">
                <a:solidFill>
                  <a:srgbClr val="FF0000"/>
                </a:solidFill>
              </a:rPr>
              <a:t>float:right</a:t>
            </a:r>
            <a:r>
              <a:rPr lang="en-US" sz="1800" dirty="0" smtClean="0">
                <a:solidFill>
                  <a:srgbClr val="0070C0"/>
                </a:solidFill>
              </a:rPr>
              <a:t>; width:500px;”&gt;</a:t>
            </a:r>
          </a:p>
          <a:p>
            <a:pPr marL="0" lvl="1" indent="0">
              <a:buNone/>
            </a:pPr>
            <a:r>
              <a:rPr lang="en-US" sz="1800" dirty="0" err="1" smtClean="0">
                <a:solidFill>
                  <a:srgbClr val="0070C0"/>
                </a:solidFill>
              </a:rPr>
              <a:t>Gambar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akan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ditampilkan</a:t>
            </a:r>
            <a:r>
              <a:rPr lang="en-US" sz="1800" dirty="0" smtClean="0">
                <a:solidFill>
                  <a:srgbClr val="0070C0"/>
                </a:solidFill>
              </a:rPr>
              <a:t> di </a:t>
            </a:r>
            <a:r>
              <a:rPr lang="en-US" sz="1800" dirty="0" err="1" smtClean="0">
                <a:solidFill>
                  <a:srgbClr val="0070C0"/>
                </a:solidFill>
              </a:rPr>
              <a:t>sebelah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kanan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teks</a:t>
            </a:r>
            <a:r>
              <a:rPr lang="en-US" sz="1800" dirty="0" smtClean="0">
                <a:solidFill>
                  <a:srgbClr val="0070C0"/>
                </a:solidFill>
              </a:rPr>
              <a:t>&lt;/p&gt;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</a:t>
            </a:r>
            <a:r>
              <a:rPr lang="en-US" sz="1800" dirty="0">
                <a:solidFill>
                  <a:srgbClr val="0070C0"/>
                </a:solidFill>
              </a:rPr>
              <a:t>p&gt;&lt;</a:t>
            </a:r>
            <a:r>
              <a:rPr lang="en-US" sz="1800" dirty="0" err="1">
                <a:solidFill>
                  <a:srgbClr val="0070C0"/>
                </a:solidFill>
              </a:rPr>
              <a:t>img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src</a:t>
            </a:r>
            <a:r>
              <a:rPr lang="en-US" sz="1800" dirty="0">
                <a:solidFill>
                  <a:srgbClr val="0070C0"/>
                </a:solidFill>
              </a:rPr>
              <a:t>=“udinus.jpg” alt</a:t>
            </a:r>
            <a:r>
              <a:rPr lang="en-US" sz="1800" dirty="0" smtClean="0">
                <a:solidFill>
                  <a:srgbClr val="0070C0"/>
                </a:solidFill>
              </a:rPr>
              <a:t>=“</a:t>
            </a:r>
            <a:r>
              <a:rPr lang="en-US" sz="1800" dirty="0" err="1" smtClean="0">
                <a:solidFill>
                  <a:srgbClr val="0070C0"/>
                </a:solidFill>
              </a:rPr>
              <a:t>Udinus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Kampus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Swasta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Terbaik</a:t>
            </a:r>
            <a:r>
              <a:rPr lang="en-US" sz="1800" dirty="0" smtClean="0">
                <a:solidFill>
                  <a:srgbClr val="0070C0"/>
                </a:solidFill>
              </a:rPr>
              <a:t>” </a:t>
            </a:r>
            <a:r>
              <a:rPr lang="en-US" sz="1800" dirty="0">
                <a:solidFill>
                  <a:srgbClr val="0070C0"/>
                </a:solidFill>
              </a:rPr>
              <a:t>style=“</a:t>
            </a:r>
            <a:r>
              <a:rPr lang="en-US" sz="1800" dirty="0" err="1" smtClean="0">
                <a:solidFill>
                  <a:srgbClr val="FF0000"/>
                </a:solidFill>
              </a:rPr>
              <a:t>float:left</a:t>
            </a:r>
            <a:r>
              <a:rPr lang="en-US" sz="1800" dirty="0" smtClean="0">
                <a:solidFill>
                  <a:srgbClr val="0070C0"/>
                </a:solidFill>
              </a:rPr>
              <a:t>; </a:t>
            </a:r>
            <a:r>
              <a:rPr lang="en-US" sz="1800" dirty="0">
                <a:solidFill>
                  <a:srgbClr val="0070C0"/>
                </a:solidFill>
              </a:rPr>
              <a:t>width:500px;”&gt;</a:t>
            </a:r>
          </a:p>
          <a:p>
            <a:pPr marL="0" lvl="1" indent="0">
              <a:buNone/>
            </a:pPr>
            <a:r>
              <a:rPr lang="en-US" sz="1800" dirty="0" err="1">
                <a:solidFill>
                  <a:srgbClr val="0070C0"/>
                </a:solidFill>
              </a:rPr>
              <a:t>Gambar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akan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ditampilkan</a:t>
            </a:r>
            <a:r>
              <a:rPr lang="en-US" sz="1800" dirty="0">
                <a:solidFill>
                  <a:srgbClr val="0070C0"/>
                </a:solidFill>
              </a:rPr>
              <a:t> di </a:t>
            </a:r>
            <a:r>
              <a:rPr lang="en-US" sz="1800" dirty="0" err="1">
                <a:solidFill>
                  <a:srgbClr val="0070C0"/>
                </a:solidFill>
              </a:rPr>
              <a:t>sebelah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kiri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teks</a:t>
            </a:r>
            <a:r>
              <a:rPr lang="en-US" sz="1800" dirty="0">
                <a:solidFill>
                  <a:srgbClr val="0070C0"/>
                </a:solidFill>
              </a:rPr>
              <a:t>&lt;/p&gt;</a:t>
            </a: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16" t="23164" r="51339" b="10962"/>
          <a:stretch/>
        </p:blipFill>
        <p:spPr>
          <a:xfrm>
            <a:off x="8420387" y="2034708"/>
            <a:ext cx="2581441" cy="20024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028" t="17212" r="51116" b="11161"/>
          <a:stretch/>
        </p:blipFill>
        <p:spPr>
          <a:xfrm>
            <a:off x="8420387" y="4225114"/>
            <a:ext cx="2742477" cy="230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0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726867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Pernahkah</a:t>
            </a:r>
            <a:r>
              <a:rPr lang="en-US" sz="2000" dirty="0" smtClean="0"/>
              <a:t> kalian </a:t>
            </a:r>
            <a:r>
              <a:rPr lang="en-US" sz="2000" dirty="0" err="1" smtClean="0"/>
              <a:t>lihat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yang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daftar</a:t>
            </a:r>
            <a:r>
              <a:rPr lang="en-US" sz="2000" dirty="0" smtClean="0"/>
              <a:t> data </a:t>
            </a:r>
            <a:r>
              <a:rPr lang="en-US" sz="2000" dirty="0" err="1" smtClean="0"/>
              <a:t>mahasiswa</a:t>
            </a:r>
            <a:r>
              <a:rPr lang="en-US" sz="2000" dirty="0" smtClean="0"/>
              <a:t>? </a:t>
            </a:r>
            <a:r>
              <a:rPr lang="en-US" sz="2000" dirty="0" err="1" smtClean="0"/>
              <a:t>Daftar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 </a:t>
            </a:r>
            <a:r>
              <a:rPr lang="en-US" sz="2000" dirty="0" err="1" smtClean="0"/>
              <a:t>mesti</a:t>
            </a:r>
            <a:r>
              <a:rPr lang="en-US" sz="2000" dirty="0" smtClean="0"/>
              <a:t> </a:t>
            </a:r>
            <a:r>
              <a:rPr lang="en-US" sz="2000" dirty="0" err="1" smtClean="0"/>
              <a:t>dibuat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table. </a:t>
            </a:r>
            <a:r>
              <a:rPr lang="en-US" sz="2000" dirty="0" err="1" smtClean="0"/>
              <a:t>Ya</a:t>
            </a:r>
            <a:r>
              <a:rPr lang="en-US" sz="2000" dirty="0" smtClean="0"/>
              <a:t>,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table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data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bentuk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kolom</a:t>
            </a:r>
            <a:r>
              <a:rPr lang="en-US" sz="2000" dirty="0" smtClean="0"/>
              <a:t>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tabel</a:t>
            </a:r>
            <a:r>
              <a:rPr lang="en-US" sz="2000" dirty="0" smtClean="0"/>
              <a:t> </a:t>
            </a:r>
            <a:r>
              <a:rPr lang="en-US" sz="2000" dirty="0" err="1" smtClean="0"/>
              <a:t>memerlukan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tag:</a:t>
            </a:r>
          </a:p>
          <a:p>
            <a:r>
              <a:rPr lang="en-US" sz="2000" dirty="0" smtClean="0">
                <a:solidFill>
                  <a:srgbClr val="00B0F0"/>
                </a:solidFill>
              </a:rPr>
              <a:t>&lt;table&gt;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tabel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tr</a:t>
            </a:r>
            <a:r>
              <a:rPr lang="en-US" sz="2000" dirty="0" smtClean="0">
                <a:solidFill>
                  <a:srgbClr val="00B0F0"/>
                </a:solidFill>
              </a:rPr>
              <a:t>&gt;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baris-baris</a:t>
            </a:r>
            <a:r>
              <a:rPr lang="en-US" sz="2000" dirty="0" smtClean="0"/>
              <a:t> </a:t>
            </a:r>
            <a:r>
              <a:rPr lang="en-US" sz="2000" dirty="0" err="1" smtClean="0"/>
              <a:t>tabel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B0F0"/>
                </a:solidFill>
              </a:rPr>
              <a:t>&lt;td&gt;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kolom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sel</a:t>
            </a:r>
            <a:r>
              <a:rPr lang="en-US" sz="2000" dirty="0" smtClean="0"/>
              <a:t> </a:t>
            </a:r>
            <a:r>
              <a:rPr lang="en-US" sz="2000" dirty="0" err="1" smtClean="0"/>
              <a:t>tabel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th</a:t>
            </a:r>
            <a:r>
              <a:rPr lang="en-US" sz="2000" dirty="0" smtClean="0">
                <a:solidFill>
                  <a:srgbClr val="00B0F0"/>
                </a:solidFill>
              </a:rPr>
              <a:t>&gt; </a:t>
            </a:r>
            <a:r>
              <a:rPr lang="en-US" sz="2000" dirty="0" err="1" smtClean="0"/>
              <a:t>sama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&lt;td&gt; </a:t>
            </a:r>
            <a:r>
              <a:rPr lang="en-US" sz="2000" dirty="0" err="1" smtClean="0"/>
              <a:t>tetapi</a:t>
            </a:r>
            <a:r>
              <a:rPr lang="en-US" sz="2000" dirty="0" smtClean="0"/>
              <a:t> </a:t>
            </a:r>
            <a:r>
              <a:rPr lang="en-US" sz="2000" dirty="0" err="1" smtClean="0"/>
              <a:t>teksnya</a:t>
            </a:r>
            <a:r>
              <a:rPr lang="en-US" sz="2000" dirty="0" smtClean="0"/>
              <a:t> </a:t>
            </a:r>
            <a:r>
              <a:rPr lang="en-US" sz="2000" dirty="0" err="1" smtClean="0"/>
              <a:t>tebal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rata </a:t>
            </a:r>
            <a:r>
              <a:rPr lang="en-US" sz="2000" dirty="0" err="1" smtClean="0"/>
              <a:t>tengah</a:t>
            </a:r>
            <a:r>
              <a:rPr lang="en-US" sz="2000" dirty="0" smtClean="0"/>
              <a:t>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header </a:t>
            </a:r>
            <a:r>
              <a:rPr lang="en-US" sz="2000" dirty="0" err="1" smtClean="0"/>
              <a:t>kolom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Aturan</a:t>
            </a:r>
            <a:r>
              <a:rPr lang="en-US" sz="2000" dirty="0" smtClean="0"/>
              <a:t> </a:t>
            </a:r>
            <a:r>
              <a:rPr lang="en-US" sz="2000" dirty="0" err="1" smtClean="0"/>
              <a:t>penulisan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Tag </a:t>
            </a:r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tr</a:t>
            </a:r>
            <a:r>
              <a:rPr lang="en-US" sz="2000" dirty="0" smtClean="0">
                <a:solidFill>
                  <a:srgbClr val="00B0F0"/>
                </a:solidFill>
              </a:rPr>
              <a:t>&gt;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</a:t>
            </a:r>
            <a:r>
              <a:rPr lang="en-US" sz="2000" dirty="0" err="1" smtClean="0"/>
              <a:t>didalam</a:t>
            </a:r>
            <a:r>
              <a:rPr lang="en-US" sz="2000" dirty="0" smtClean="0"/>
              <a:t> tag </a:t>
            </a:r>
            <a:r>
              <a:rPr lang="en-US" sz="2000" dirty="0" smtClean="0">
                <a:solidFill>
                  <a:srgbClr val="00B0F0"/>
                </a:solidFill>
              </a:rPr>
              <a:t>&lt;html&gt;</a:t>
            </a:r>
          </a:p>
          <a:p>
            <a:r>
              <a:rPr lang="en-US" sz="2000" dirty="0" smtClean="0"/>
              <a:t>Tag </a:t>
            </a:r>
            <a:r>
              <a:rPr lang="en-US" sz="2000" dirty="0" smtClean="0">
                <a:solidFill>
                  <a:srgbClr val="00B0F0"/>
                </a:solidFill>
              </a:rPr>
              <a:t>&lt;td&gt;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th</a:t>
            </a:r>
            <a:r>
              <a:rPr lang="en-US" sz="2000" dirty="0" smtClean="0">
                <a:solidFill>
                  <a:srgbClr val="00B0F0"/>
                </a:solidFill>
              </a:rPr>
              <a:t>&gt;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</a:t>
            </a:r>
            <a:r>
              <a:rPr lang="en-US" sz="2000" dirty="0" err="1" smtClean="0"/>
              <a:t>didalam</a:t>
            </a:r>
            <a:r>
              <a:rPr lang="en-US" sz="2000" dirty="0" smtClean="0"/>
              <a:t> tag </a:t>
            </a:r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tr</a:t>
            </a:r>
            <a:r>
              <a:rPr lang="en-US" sz="2000" dirty="0" smtClean="0">
                <a:solidFill>
                  <a:srgbClr val="00B0F0"/>
                </a:solidFill>
              </a:rPr>
              <a:t>&gt;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45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5471885"/>
            <a:ext cx="8313272" cy="928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Tabel</a:t>
            </a:r>
            <a:r>
              <a:rPr lang="en-US" sz="2000" dirty="0" smtClean="0"/>
              <a:t> </a:t>
            </a:r>
            <a:r>
              <a:rPr lang="en-US" sz="2000" dirty="0" err="1" smtClean="0"/>
              <a:t>diatas</a:t>
            </a:r>
            <a:r>
              <a:rPr lang="en-US" sz="2000" dirty="0" smtClean="0"/>
              <a:t> </a:t>
            </a:r>
            <a:r>
              <a:rPr lang="en-US" sz="2000" dirty="0" err="1" smtClean="0"/>
              <a:t>terdiri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kolom</a:t>
            </a:r>
            <a:r>
              <a:rPr lang="en-US" sz="2000" dirty="0" smtClean="0"/>
              <a:t> yang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data-data </a:t>
            </a:r>
            <a:r>
              <a:rPr lang="en-US" sz="2000" dirty="0" err="1" smtClean="0"/>
              <a:t>mahasiswa</a:t>
            </a:r>
            <a:endParaRPr lang="en-US" sz="2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792" r="84671" b="78125"/>
          <a:stretch/>
        </p:blipFill>
        <p:spPr>
          <a:xfrm>
            <a:off x="8519505" y="3642360"/>
            <a:ext cx="2653468" cy="6893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10837" y="1854556"/>
            <a:ext cx="6096000" cy="3323987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Mengatur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Penempatan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Image 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dengan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float CSS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table&gt;</a:t>
            </a:r>
            <a:endParaRPr lang="en-US" sz="1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NIM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  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A12.2020.05000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Adi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Susilo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7650480" y="3779520"/>
            <a:ext cx="609600" cy="369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0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Mengatur</a:t>
            </a:r>
            <a:r>
              <a:rPr lang="en-US" dirty="0" smtClean="0"/>
              <a:t> </a:t>
            </a:r>
            <a:r>
              <a:rPr lang="en-US" dirty="0" err="1" smtClean="0"/>
              <a:t>Tampilan</a:t>
            </a:r>
            <a:r>
              <a:rPr lang="en-US" dirty="0" smtClean="0"/>
              <a:t> Border </a:t>
            </a:r>
            <a:r>
              <a:rPr lang="en-US" dirty="0" err="1" smtClean="0"/>
              <a:t>Tabel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5831329" cy="621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 smtClean="0"/>
              <a:t>Tampilan</a:t>
            </a:r>
            <a:r>
              <a:rPr lang="en-US" sz="1600" dirty="0" smtClean="0"/>
              <a:t> </a:t>
            </a:r>
            <a:r>
              <a:rPr lang="en-US" sz="1600" dirty="0" err="1" smtClean="0"/>
              <a:t>tabel</a:t>
            </a:r>
            <a:r>
              <a:rPr lang="en-US" sz="1600" dirty="0" smtClean="0"/>
              <a:t> </a:t>
            </a:r>
            <a:r>
              <a:rPr lang="en-US" sz="1600" dirty="0" err="1" smtClean="0"/>
              <a:t>dapat</a:t>
            </a:r>
            <a:r>
              <a:rPr lang="en-US" sz="1600" dirty="0" smtClean="0"/>
              <a:t> </a:t>
            </a:r>
            <a:r>
              <a:rPr lang="en-US" sz="1600" dirty="0" err="1" smtClean="0"/>
              <a:t>diatur</a:t>
            </a:r>
            <a:r>
              <a:rPr lang="en-US" sz="1600" dirty="0" smtClean="0"/>
              <a:t> </a:t>
            </a:r>
            <a:r>
              <a:rPr lang="en-US" sz="1600" dirty="0" err="1" smtClean="0"/>
              <a:t>menggunakan</a:t>
            </a:r>
            <a:r>
              <a:rPr lang="en-US" sz="1600" dirty="0" smtClean="0"/>
              <a:t> CSS. </a:t>
            </a:r>
            <a:r>
              <a:rPr lang="en-US" sz="1600" dirty="0" err="1" smtClean="0"/>
              <a:t>Untuk</a:t>
            </a:r>
            <a:r>
              <a:rPr lang="en-US" sz="1600" dirty="0" smtClean="0"/>
              <a:t> </a:t>
            </a:r>
            <a:r>
              <a:rPr lang="en-US" sz="1600" dirty="0" err="1" smtClean="0"/>
              <a:t>memberi</a:t>
            </a:r>
            <a:r>
              <a:rPr lang="en-US" sz="1600" dirty="0" smtClean="0"/>
              <a:t> border </a:t>
            </a:r>
            <a:r>
              <a:rPr lang="en-US" sz="1600" dirty="0" err="1" smtClean="0"/>
              <a:t>pada</a:t>
            </a:r>
            <a:r>
              <a:rPr lang="en-US" sz="1600" dirty="0" smtClean="0"/>
              <a:t> </a:t>
            </a:r>
            <a:r>
              <a:rPr lang="en-US" sz="1600" dirty="0" err="1" smtClean="0"/>
              <a:t>tabel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06837" y="4361156"/>
            <a:ext cx="3836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Properti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1DB8F0"/>
                </a:solidFill>
              </a:rPr>
              <a:t>border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border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bertepi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Properti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1DB8F0"/>
                </a:solidFill>
              </a:rPr>
              <a:t>border-collapse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tepi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double </a:t>
            </a:r>
            <a:r>
              <a:rPr lang="en-US" dirty="0" err="1" smtClean="0"/>
              <a:t>tetapi</a:t>
            </a:r>
            <a:r>
              <a:rPr lang="en-US" dirty="0" smtClean="0"/>
              <a:t> </a:t>
            </a:r>
            <a:r>
              <a:rPr lang="en-US" dirty="0" err="1" smtClean="0"/>
              <a:t>tunggal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tampak</a:t>
            </a:r>
            <a:r>
              <a:rPr lang="en-US" dirty="0" smtClean="0"/>
              <a:t> </a:t>
            </a:r>
            <a:r>
              <a:rPr lang="en-US" dirty="0" err="1" smtClean="0"/>
              <a:t>elegan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4792" r="85139" b="78958"/>
          <a:stretch/>
        </p:blipFill>
        <p:spPr>
          <a:xfrm>
            <a:off x="8422442" y="2920784"/>
            <a:ext cx="2605313" cy="6160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01851" y="2656114"/>
            <a:ext cx="6096000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Mengatur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Penempatan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Image 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dengan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float CSS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9CDCFE"/>
                </a:solidFill>
                <a:latin typeface="Consolas" panose="020B0609020204030204" pitchFamily="49" charset="0"/>
              </a:rPr>
              <a:t>border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200" b="1" dirty="0">
                <a:solidFill>
                  <a:srgbClr val="B5CEA8"/>
                </a:solidFill>
                <a:latin typeface="Consolas" panose="020B0609020204030204" pitchFamily="49" charset="0"/>
              </a:rPr>
              <a:t>1px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solid black;</a:t>
            </a: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9CDCFE"/>
                </a:solidFill>
                <a:latin typeface="Consolas" panose="020B0609020204030204" pitchFamily="49" charset="0"/>
              </a:rPr>
              <a:t>border-collapse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: collapse;</a:t>
            </a: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NIM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A12.2020.05000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Adi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Susilo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</a:p>
          <a:p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7515825" y="3076401"/>
            <a:ext cx="582023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2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Mengatur</a:t>
            </a:r>
            <a:r>
              <a:rPr lang="en-US" dirty="0" smtClean="0"/>
              <a:t> </a:t>
            </a:r>
            <a:r>
              <a:rPr lang="en-US" dirty="0" err="1" smtClean="0"/>
              <a:t>Tampilan</a:t>
            </a:r>
            <a:r>
              <a:rPr lang="en-US" dirty="0" smtClean="0"/>
              <a:t> Padding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5406213" cy="4228230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Mengatur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Penempatan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Image 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dengan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float CSS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200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9CDCFE"/>
                </a:solidFill>
                <a:latin typeface="Consolas" panose="020B0609020204030204" pitchFamily="49" charset="0"/>
              </a:rPr>
              <a:t>border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200" b="1" dirty="0">
                <a:solidFill>
                  <a:srgbClr val="B5CEA8"/>
                </a:solidFill>
                <a:latin typeface="Consolas" panose="020B0609020204030204" pitchFamily="49" charset="0"/>
              </a:rPr>
              <a:t>1px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solid black;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9CDCFE"/>
                </a:solidFill>
                <a:latin typeface="Consolas" panose="020B0609020204030204" pitchFamily="49" charset="0"/>
              </a:rPr>
              <a:t>border-collapse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: collapse;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     </a:t>
            </a:r>
            <a:r>
              <a:rPr lang="en-US" sz="1200" dirty="0" err="1" smtClean="0">
                <a:solidFill>
                  <a:srgbClr val="D7BA7D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200" dirty="0">
                <a:solidFill>
                  <a:srgbClr val="D7BA7D"/>
                </a:solidFill>
                <a:latin typeface="Consolas" panose="020B0609020204030204" pitchFamily="49" charset="0"/>
              </a:rPr>
              <a:t>td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49" charset="0"/>
              </a:rPr>
              <a:t>padding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15px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NIM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A12.2020.05000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Adi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200" b="1" dirty="0" err="1" smtClean="0">
                <a:solidFill>
                  <a:srgbClr val="D4D4D4"/>
                </a:solidFill>
                <a:latin typeface="Consolas" panose="020B0609020204030204" pitchFamily="49" charset="0"/>
              </a:rPr>
              <a:t>Susilo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2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4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73257" y="4935841"/>
            <a:ext cx="3836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Properti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1DB8F0"/>
                </a:solidFill>
              </a:rPr>
              <a:t>padding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jarak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tepi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tampak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elegan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14584" r="81391" b="71458"/>
          <a:stretch/>
        </p:blipFill>
        <p:spPr>
          <a:xfrm>
            <a:off x="7373257" y="2748764"/>
            <a:ext cx="2768872" cy="1167675"/>
          </a:xfrm>
          <a:prstGeom prst="rect">
            <a:avLst/>
          </a:prstGeom>
        </p:spPr>
      </p:pic>
      <p:sp>
        <p:nvSpPr>
          <p:cNvPr id="9" name="Line Callout 1 (No Border) 8"/>
          <p:cNvSpPr/>
          <p:nvPr/>
        </p:nvSpPr>
        <p:spPr>
          <a:xfrm>
            <a:off x="10475007" y="3916439"/>
            <a:ext cx="914400" cy="612648"/>
          </a:xfrm>
          <a:prstGeom prst="callout1">
            <a:avLst>
              <a:gd name="adj1" fmla="val 18750"/>
              <a:gd name="adj2" fmla="val -8333"/>
              <a:gd name="adj3" fmla="val -36754"/>
              <a:gd name="adj4" fmla="val -43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tepi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endParaRPr lang="en-US" dirty="0"/>
          </a:p>
        </p:txBody>
      </p:sp>
      <p:sp>
        <p:nvSpPr>
          <p:cNvPr id="10" name="Line Callout 1 (No Border) 9"/>
          <p:cNvSpPr/>
          <p:nvPr/>
        </p:nvSpPr>
        <p:spPr>
          <a:xfrm>
            <a:off x="10475007" y="2934106"/>
            <a:ext cx="914400" cy="612648"/>
          </a:xfrm>
          <a:prstGeom prst="callout1">
            <a:avLst>
              <a:gd name="adj1" fmla="val 18750"/>
              <a:gd name="adj2" fmla="val -8333"/>
              <a:gd name="adj3" fmla="val 90112"/>
              <a:gd name="adj4" fmla="val -8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Isi </a:t>
            </a:r>
            <a:r>
              <a:rPr lang="en-US" dirty="0" err="1" smtClean="0"/>
              <a:t>sel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6845598" y="3238123"/>
            <a:ext cx="517354" cy="306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1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Menggabung</a:t>
            </a:r>
            <a:r>
              <a:rPr lang="en-US" dirty="0" smtClean="0"/>
              <a:t> </a:t>
            </a:r>
            <a:r>
              <a:rPr lang="en-US" dirty="0" err="1" smtClean="0"/>
              <a:t>Sel-sel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358232" cy="42282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 smtClean="0"/>
              <a:t>Sel-sel</a:t>
            </a:r>
            <a:r>
              <a:rPr lang="en-US" sz="2000" dirty="0" smtClean="0"/>
              <a:t> </a:t>
            </a:r>
            <a:r>
              <a:rPr lang="en-US" sz="2000" dirty="0" err="1" smtClean="0"/>
              <a:t>tabel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digabung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F0"/>
                </a:solidFill>
              </a:rPr>
              <a:t>colspan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F0"/>
                </a:solidFill>
              </a:rPr>
              <a:t>rowspan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ditulis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tag </a:t>
            </a:r>
            <a:r>
              <a:rPr lang="en-US" sz="2000" dirty="0" err="1" smtClean="0"/>
              <a:t>awal</a:t>
            </a:r>
            <a:r>
              <a:rPr lang="en-US" sz="2000" dirty="0" smtClean="0"/>
              <a:t> &lt;td&gt; </a:t>
            </a:r>
            <a:r>
              <a:rPr lang="en-US" sz="2000" dirty="0" err="1" smtClean="0"/>
              <a:t>atau</a:t>
            </a:r>
            <a:r>
              <a:rPr lang="en-US" sz="2000" dirty="0" smtClean="0"/>
              <a:t> &lt;</a:t>
            </a:r>
            <a:r>
              <a:rPr lang="en-US" sz="2000" dirty="0" err="1" smtClean="0"/>
              <a:t>th</a:t>
            </a:r>
            <a:r>
              <a:rPr lang="en-US" sz="2000" dirty="0" smtClean="0"/>
              <a:t>&gt;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sel</a:t>
            </a:r>
            <a:r>
              <a:rPr lang="en-US" sz="2000" dirty="0" smtClean="0"/>
              <a:t> </a:t>
            </a:r>
            <a:r>
              <a:rPr lang="en-US" sz="2000" dirty="0" err="1" smtClean="0"/>
              <a:t>pertama</a:t>
            </a:r>
            <a:r>
              <a:rPr lang="en-US" sz="2000" dirty="0" smtClean="0"/>
              <a:t> yang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digabung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Penggabungan</a:t>
            </a:r>
            <a:r>
              <a:rPr lang="en-US" sz="2000" dirty="0" smtClean="0"/>
              <a:t> </a:t>
            </a:r>
            <a:r>
              <a:rPr lang="en-US" sz="2000" dirty="0" err="1" smtClean="0"/>
              <a:t>sel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dilakukan</a:t>
            </a:r>
            <a:r>
              <a:rPr lang="en-US" sz="2000" dirty="0" smtClean="0"/>
              <a:t> </a:t>
            </a:r>
            <a:r>
              <a:rPr lang="en-US" sz="2000" dirty="0" err="1" smtClean="0"/>
              <a:t>terhadap</a:t>
            </a:r>
            <a:r>
              <a:rPr lang="en-US" sz="2000" dirty="0" smtClean="0"/>
              <a:t> </a:t>
            </a:r>
            <a:r>
              <a:rPr lang="en-US" sz="2000" dirty="0" err="1" smtClean="0"/>
              <a:t>sel-sel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terletak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kolom</a:t>
            </a:r>
            <a:r>
              <a:rPr lang="en-US" sz="2000" dirty="0" smtClean="0"/>
              <a:t>. </a:t>
            </a:r>
            <a:r>
              <a:rPr lang="en-US" sz="2000" dirty="0" err="1" smtClean="0"/>
              <a:t>Jika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satu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baris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err="1" smtClean="0"/>
              <a:t>maka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F0"/>
                </a:solidFill>
              </a:rPr>
              <a:t>colspan</a:t>
            </a:r>
            <a:r>
              <a:rPr lang="en-US" sz="2000" dirty="0" smtClean="0"/>
              <a:t>, </a:t>
            </a:r>
            <a:r>
              <a:rPr lang="en-US" sz="2000" dirty="0" err="1" smtClean="0"/>
              <a:t>jika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satu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kolom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F0"/>
                </a:solidFill>
              </a:rPr>
              <a:t>rowspan</a:t>
            </a: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How to set HTML Table Colspan and HTML Table Rowsp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3" y="4923769"/>
            <a:ext cx="5892343" cy="1339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75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Menggabung</a:t>
            </a:r>
            <a:r>
              <a:rPr lang="en-US" dirty="0" smtClean="0"/>
              <a:t> </a:t>
            </a:r>
            <a:r>
              <a:rPr lang="en-US" dirty="0" err="1" smtClean="0"/>
              <a:t>Sel-sel</a:t>
            </a:r>
            <a:r>
              <a:rPr lang="en-US" dirty="0" smtClean="0"/>
              <a:t> </a:t>
            </a:r>
            <a:r>
              <a:rPr lang="en-US" dirty="0" err="1" smtClean="0"/>
              <a:t>Tabel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1929" y="2034709"/>
            <a:ext cx="5961958" cy="4583805"/>
          </a:xfrm>
          <a:solidFill>
            <a:schemeClr val="tx1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Mengatur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Penempatan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Image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dengan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float CSS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table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th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border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1px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solid black;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border-collapse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: collapse;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 err="1">
                <a:solidFill>
                  <a:srgbClr val="D7BA7D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b="1" dirty="0">
                <a:solidFill>
                  <a:srgbClr val="D7BA7D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padding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5px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NIM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Nama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colspan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 err="1" smtClean="0">
                <a:solidFill>
                  <a:srgbClr val="D4D4D4"/>
                </a:solidFill>
                <a:latin typeface="Consolas" panose="020B0609020204030204" pitchFamily="49" charset="0"/>
              </a:rPr>
              <a:t>Aksi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A12.2020.05000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Adi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Susilo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edit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hapus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table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4633" r="78223" b="77033"/>
          <a:stretch/>
        </p:blipFill>
        <p:spPr>
          <a:xfrm>
            <a:off x="7806837" y="2574458"/>
            <a:ext cx="2833461" cy="609601"/>
          </a:xfrm>
          <a:prstGeom prst="rect">
            <a:avLst/>
          </a:prstGeom>
        </p:spPr>
      </p:pic>
      <p:sp>
        <p:nvSpPr>
          <p:cNvPr id="8" name="Line Callout 1 (Accent Bar) 7"/>
          <p:cNvSpPr/>
          <p:nvPr/>
        </p:nvSpPr>
        <p:spPr>
          <a:xfrm>
            <a:off x="10522856" y="1919479"/>
            <a:ext cx="1016001" cy="592606"/>
          </a:xfrm>
          <a:prstGeom prst="accentCallout1">
            <a:avLst>
              <a:gd name="adj1" fmla="val 18750"/>
              <a:gd name="adj2" fmla="val -8333"/>
              <a:gd name="adj3" fmla="val 129645"/>
              <a:gd name="adj4" fmla="val -540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 </a:t>
            </a:r>
            <a:r>
              <a:rPr lang="en-US" sz="1600" dirty="0" err="1" smtClean="0"/>
              <a:t>sel</a:t>
            </a:r>
            <a:r>
              <a:rPr lang="en-US" sz="1600" dirty="0" smtClean="0"/>
              <a:t> </a:t>
            </a:r>
            <a:r>
              <a:rPr lang="en-US" sz="1600" dirty="0" err="1" smtClean="0"/>
              <a:t>digabung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806837" y="4351309"/>
            <a:ext cx="420914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Penggabungan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baris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atribut</a:t>
            </a:r>
            <a:r>
              <a:rPr lang="en-US" dirty="0" smtClean="0"/>
              <a:t> </a:t>
            </a:r>
            <a:r>
              <a:rPr lang="en-US" dirty="0" err="1" smtClean="0"/>
              <a:t>colspan</a:t>
            </a:r>
            <a:r>
              <a:rPr lang="en-US" dirty="0" smtClean="0"/>
              <a:t>. Ada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 yang </a:t>
            </a:r>
            <a:r>
              <a:rPr lang="en-US" dirty="0" err="1" smtClean="0"/>
              <a:t>digabung</a:t>
            </a:r>
            <a:r>
              <a:rPr lang="en-US" dirty="0" smtClean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atribut</a:t>
            </a:r>
            <a:r>
              <a:rPr lang="en-US" dirty="0" smtClean="0"/>
              <a:t> </a:t>
            </a:r>
            <a:r>
              <a:rPr lang="en-US" dirty="0" err="1" smtClean="0"/>
              <a:t>sama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2. </a:t>
            </a:r>
            <a:r>
              <a:rPr lang="en-US" dirty="0" err="1" smtClean="0"/>
              <a:t>Jumlah</a:t>
            </a:r>
            <a:r>
              <a:rPr lang="en-US" dirty="0" smtClean="0"/>
              <a:t> tag &lt;</a:t>
            </a:r>
            <a:r>
              <a:rPr lang="en-US" dirty="0" err="1" smtClean="0"/>
              <a:t>th</a:t>
            </a:r>
            <a:r>
              <a:rPr lang="en-US" dirty="0" smtClean="0"/>
              <a:t>&gt; </a:t>
            </a:r>
            <a:r>
              <a:rPr lang="en-US" dirty="0" err="1" smtClean="0"/>
              <a:t>semestinya</a:t>
            </a:r>
            <a:r>
              <a:rPr lang="en-US" dirty="0" smtClean="0"/>
              <a:t> 4,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penggabunga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sel</a:t>
            </a:r>
            <a:r>
              <a:rPr lang="en-US" dirty="0" smtClean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 </a:t>
            </a:r>
            <a:r>
              <a:rPr lang="en-US" dirty="0" err="1" smtClean="0"/>
              <a:t>jumlahnya</a:t>
            </a:r>
            <a:r>
              <a:rPr lang="en-US" dirty="0" smtClean="0"/>
              <a:t> </a:t>
            </a:r>
            <a:r>
              <a:rPr lang="en-US" dirty="0" err="1" smtClean="0"/>
              <a:t>berkurang</a:t>
            </a:r>
            <a:r>
              <a:rPr lang="en-US" dirty="0" smtClean="0"/>
              <a:t> </a:t>
            </a:r>
            <a:r>
              <a:rPr lang="en-US" dirty="0" err="1" smtClean="0"/>
              <a:t>jadi</a:t>
            </a:r>
            <a:r>
              <a:rPr lang="en-US" dirty="0" smtClean="0"/>
              <a:t> 3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847771" y="4876800"/>
            <a:ext cx="2959066" cy="3516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12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9" y="2034709"/>
            <a:ext cx="6687672" cy="198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Elemen</a:t>
            </a:r>
            <a:r>
              <a:rPr lang="en-US" sz="2000" dirty="0" smtClean="0"/>
              <a:t> form </a:t>
            </a:r>
            <a:r>
              <a:rPr lang="en-US" sz="2000" dirty="0" err="1" smtClean="0"/>
              <a:t>salah</a:t>
            </a:r>
            <a:r>
              <a:rPr lang="en-US" sz="2000" dirty="0" smtClean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html yang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dikuasai</a:t>
            </a:r>
            <a:r>
              <a:rPr lang="en-US" sz="2000" dirty="0" smtClean="0"/>
              <a:t>.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berperan</a:t>
            </a:r>
            <a:r>
              <a:rPr lang="en-US" sz="2000" dirty="0" smtClean="0"/>
              <a:t> </a:t>
            </a:r>
            <a:r>
              <a:rPr lang="en-US" sz="2000" dirty="0" err="1" smtClean="0"/>
              <a:t>penting</a:t>
            </a:r>
            <a:r>
              <a:rPr lang="en-US" sz="2000" dirty="0" smtClean="0"/>
              <a:t>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</a:t>
            </a:r>
            <a:r>
              <a:rPr lang="en-US" sz="2000" dirty="0" err="1" smtClean="0"/>
              <a:t>pengolahan</a:t>
            </a:r>
            <a:r>
              <a:rPr lang="en-US" sz="2000" dirty="0" smtClean="0"/>
              <a:t> data. Form </a:t>
            </a:r>
            <a:r>
              <a:rPr lang="en-US" sz="2000" dirty="0" err="1" smtClean="0"/>
              <a:t>berguna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mengumpulkan</a:t>
            </a:r>
            <a:r>
              <a:rPr lang="en-US" sz="2000" dirty="0" smtClean="0"/>
              <a:t> data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diolah</a:t>
            </a:r>
            <a:r>
              <a:rPr lang="en-US" sz="2000" dirty="0" smtClean="0"/>
              <a:t> </a:t>
            </a:r>
            <a:r>
              <a:rPr lang="en-US" sz="2000" dirty="0" err="1" smtClean="0"/>
              <a:t>lebih</a:t>
            </a:r>
            <a:r>
              <a:rPr lang="en-US" sz="2000" dirty="0" smtClean="0"/>
              <a:t> </a:t>
            </a:r>
            <a:r>
              <a:rPr lang="en-US" sz="2000" dirty="0" err="1" smtClean="0"/>
              <a:t>lanjut</a:t>
            </a:r>
            <a:r>
              <a:rPr lang="en-US" sz="2000" dirty="0" smtClean="0"/>
              <a:t>. Data yang </a:t>
            </a:r>
            <a:r>
              <a:rPr lang="en-US" sz="2000" dirty="0" err="1" smtClean="0"/>
              <a:t>dimasukkan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 </a:t>
            </a:r>
            <a:r>
              <a:rPr lang="en-US" sz="2000" dirty="0" err="1" smtClean="0"/>
              <a:t>kedalam</a:t>
            </a:r>
            <a:r>
              <a:rPr lang="en-US" sz="2000" dirty="0" smtClean="0"/>
              <a:t> form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difilter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mencegah</a:t>
            </a:r>
            <a:r>
              <a:rPr lang="en-US" sz="2000" dirty="0" smtClean="0"/>
              <a:t> </a:t>
            </a:r>
            <a:r>
              <a:rPr lang="en-US" sz="2000" dirty="0" err="1" smtClean="0"/>
              <a:t>serangan</a:t>
            </a:r>
            <a:r>
              <a:rPr lang="en-US" sz="2000" dirty="0" smtClean="0"/>
              <a:t> </a:t>
            </a:r>
            <a:r>
              <a:rPr lang="en-US" sz="2000" dirty="0" err="1" smtClean="0"/>
              <a:t>keamanan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863" r="83577" b="68899"/>
          <a:stretch/>
        </p:blipFill>
        <p:spPr>
          <a:xfrm>
            <a:off x="8810292" y="3742422"/>
            <a:ext cx="2936093" cy="20342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0837" y="4238796"/>
            <a:ext cx="6096000" cy="147732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simpan.php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“ 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"post"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Nama :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"text id=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0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Atribut</a:t>
            </a:r>
            <a:r>
              <a:rPr lang="en-US" dirty="0" smtClean="0"/>
              <a:t>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9155100" cy="27416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Form </a:t>
            </a:r>
            <a:r>
              <a:rPr lang="en-US" sz="2000" dirty="0" err="1" smtClean="0"/>
              <a:t>dibentuk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tag &lt;form&gt;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sejumlah</a:t>
            </a:r>
            <a:r>
              <a:rPr lang="en-US" sz="2000" dirty="0" smtClean="0"/>
              <a:t> tag &lt;input&gt;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isian</a:t>
            </a:r>
            <a:r>
              <a:rPr lang="en-US" sz="2000" dirty="0" smtClean="0"/>
              <a:t> form.</a:t>
            </a:r>
          </a:p>
          <a:p>
            <a:pPr marL="0" indent="0">
              <a:buNone/>
            </a:pPr>
            <a:r>
              <a:rPr lang="en-US" sz="2000" dirty="0" smtClean="0"/>
              <a:t>Tag &lt;form&gt; </a:t>
            </a:r>
            <a:r>
              <a:rPr lang="en-US" sz="2000" dirty="0" err="1" smtClean="0"/>
              <a:t>mempunyai</a:t>
            </a:r>
            <a:r>
              <a:rPr lang="en-US" sz="2000" dirty="0" smtClean="0"/>
              <a:t> </a:t>
            </a:r>
            <a:r>
              <a:rPr lang="en-US" sz="2000" dirty="0" err="1" smtClean="0"/>
              <a:t>sejumlah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:</a:t>
            </a:r>
          </a:p>
          <a:p>
            <a:r>
              <a:rPr lang="en-US" sz="2000" dirty="0" smtClean="0">
                <a:solidFill>
                  <a:srgbClr val="00B0F0"/>
                </a:solidFill>
              </a:rPr>
              <a:t>action</a:t>
            </a:r>
            <a:r>
              <a:rPr lang="en-US" sz="2000" dirty="0" smtClean="0"/>
              <a:t>,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aksi</a:t>
            </a:r>
            <a:r>
              <a:rPr lang="en-US" sz="2000" dirty="0" smtClean="0"/>
              <a:t> yang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dilakukan</a:t>
            </a:r>
            <a:r>
              <a:rPr lang="en-US" sz="2000" dirty="0" smtClean="0"/>
              <a:t>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submit </a:t>
            </a:r>
            <a:r>
              <a:rPr lang="en-US" sz="2000" dirty="0" err="1" smtClean="0"/>
              <a:t>diklik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. </a:t>
            </a:r>
            <a:r>
              <a:rPr lang="en-US" sz="2000" dirty="0" err="1" smtClean="0"/>
              <a:t>Biasanya</a:t>
            </a:r>
            <a:r>
              <a:rPr lang="en-US" sz="2000" dirty="0" smtClean="0"/>
              <a:t> </a:t>
            </a:r>
            <a:r>
              <a:rPr lang="en-US" sz="2000" dirty="0" err="1" smtClean="0"/>
              <a:t>aksinya</a:t>
            </a:r>
            <a:r>
              <a:rPr lang="en-US" sz="2000" dirty="0" smtClean="0"/>
              <a:t> </a:t>
            </a:r>
            <a:r>
              <a:rPr lang="en-US" sz="2000" dirty="0" err="1" smtClean="0"/>
              <a:t>berupa</a:t>
            </a:r>
            <a:r>
              <a:rPr lang="en-US" sz="2000" dirty="0" smtClean="0"/>
              <a:t> </a:t>
            </a:r>
            <a:r>
              <a:rPr lang="en-US" sz="2000" dirty="0" err="1" smtClean="0"/>
              <a:t>pengiriman</a:t>
            </a:r>
            <a:r>
              <a:rPr lang="en-US" sz="2000" dirty="0" smtClean="0"/>
              <a:t> data form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file server yang </a:t>
            </a:r>
            <a:r>
              <a:rPr lang="en-US" sz="2000" dirty="0" err="1" smtClean="0"/>
              <a:t>berisi</a:t>
            </a:r>
            <a:r>
              <a:rPr lang="en-US" sz="2000" dirty="0" smtClean="0"/>
              <a:t> script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menangani</a:t>
            </a:r>
            <a:r>
              <a:rPr lang="en-US" sz="2000" dirty="0" smtClean="0"/>
              <a:t> data. File server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dibuat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</a:t>
            </a:r>
            <a:r>
              <a:rPr lang="en-US" sz="2000" dirty="0" err="1" smtClean="0"/>
              <a:t>bahasa</a:t>
            </a:r>
            <a:r>
              <a:rPr lang="en-US" sz="2000" dirty="0" smtClean="0"/>
              <a:t> script server </a:t>
            </a:r>
            <a:r>
              <a:rPr lang="en-US" sz="2000" dirty="0" err="1" smtClean="0"/>
              <a:t>misalnya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C00000"/>
                </a:solidFill>
              </a:rPr>
              <a:t>php</a:t>
            </a:r>
            <a:r>
              <a:rPr lang="en-US" sz="2000" dirty="0" smtClean="0"/>
              <a:t>.</a:t>
            </a:r>
          </a:p>
          <a:p>
            <a:r>
              <a:rPr lang="en-US" sz="2000" dirty="0" smtClean="0">
                <a:solidFill>
                  <a:srgbClr val="00B0F0"/>
                </a:solidFill>
              </a:rPr>
              <a:t>method</a:t>
            </a:r>
            <a:r>
              <a:rPr lang="en-US" sz="2000" dirty="0" smtClean="0"/>
              <a:t>,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metode</a:t>
            </a:r>
            <a:r>
              <a:rPr lang="en-US" sz="2000" dirty="0" smtClean="0"/>
              <a:t> http yang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mengirimkan</a:t>
            </a:r>
            <a:r>
              <a:rPr lang="en-US" sz="2000" dirty="0" smtClean="0"/>
              <a:t> data. Data form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dikirim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variable-variable URL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metode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get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sebagai</a:t>
            </a:r>
            <a:r>
              <a:rPr lang="en-US" sz="2000" dirty="0" smtClean="0"/>
              <a:t> </a:t>
            </a:r>
            <a:r>
              <a:rPr lang="en-US" sz="2000" dirty="0" err="1" smtClean="0"/>
              <a:t>transaksi</a:t>
            </a:r>
            <a:r>
              <a:rPr lang="en-US" sz="2000" dirty="0" smtClean="0"/>
              <a:t> post http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metode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post</a:t>
            </a:r>
            <a:r>
              <a:rPr lang="en-US" sz="2000" dirty="0" smtClean="0"/>
              <a:t>. </a:t>
            </a:r>
            <a:r>
              <a:rPr lang="en-US" sz="2000" dirty="0" err="1" smtClean="0"/>
              <a:t>Defaultnya</a:t>
            </a:r>
            <a:r>
              <a:rPr lang="en-US" sz="2000" dirty="0" smtClean="0"/>
              <a:t>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get</a:t>
            </a:r>
            <a:r>
              <a:rPr lang="en-US" sz="2000" dirty="0" smtClean="0"/>
              <a:t>.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06907" y="5069816"/>
            <a:ext cx="5225142" cy="13542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simpan.php“</a:t>
            </a:r>
            <a:r>
              <a:rPr lang="en-US" sz="16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"post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Nama :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"text id=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03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Label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9155100" cy="2741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Elemen</a:t>
            </a:r>
            <a:r>
              <a:rPr lang="en-US" sz="2000" dirty="0" smtClean="0"/>
              <a:t> label </a:t>
            </a:r>
            <a:r>
              <a:rPr lang="en-US" sz="2000" dirty="0" err="1" smtClean="0"/>
              <a:t>berguna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melabeli</a:t>
            </a:r>
            <a:r>
              <a:rPr lang="en-US" sz="2000" dirty="0" smtClean="0"/>
              <a:t>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form. Label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sangat</a:t>
            </a:r>
            <a:r>
              <a:rPr lang="en-US" sz="2000" dirty="0" smtClean="0"/>
              <a:t> </a:t>
            </a:r>
            <a:r>
              <a:rPr lang="en-US" sz="2000" dirty="0" err="1" smtClean="0"/>
              <a:t>membantu</a:t>
            </a:r>
            <a:r>
              <a:rPr lang="en-US" sz="2000" dirty="0" smtClean="0"/>
              <a:t>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 </a:t>
            </a:r>
            <a:r>
              <a:rPr lang="en-US" sz="2000" dirty="0" err="1" smtClean="0"/>
              <a:t>mengalami</a:t>
            </a:r>
            <a:r>
              <a:rPr lang="en-US" sz="2000" dirty="0" smtClean="0"/>
              <a:t> </a:t>
            </a:r>
            <a:r>
              <a:rPr lang="en-US" sz="2000" dirty="0" err="1" smtClean="0"/>
              <a:t>kesulitan</a:t>
            </a:r>
            <a:r>
              <a:rPr lang="en-US" sz="2000" dirty="0" smtClean="0"/>
              <a:t> </a:t>
            </a:r>
            <a:r>
              <a:rPr lang="en-US" sz="2000" dirty="0" err="1" smtClean="0"/>
              <a:t>mengklik</a:t>
            </a:r>
            <a:r>
              <a:rPr lang="en-US" sz="2000" dirty="0" smtClean="0"/>
              <a:t> area yang </a:t>
            </a:r>
            <a:r>
              <a:rPr lang="en-US" sz="2000" dirty="0" err="1" smtClean="0"/>
              <a:t>sangat</a:t>
            </a:r>
            <a:r>
              <a:rPr lang="en-US" sz="2000" dirty="0" smtClean="0"/>
              <a:t> </a:t>
            </a:r>
            <a:r>
              <a:rPr lang="en-US" sz="2000" dirty="0" err="1" smtClean="0"/>
              <a:t>kecil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radio </a:t>
            </a:r>
            <a:r>
              <a:rPr lang="en-US" sz="2000" dirty="0" err="1" smtClean="0"/>
              <a:t>atau</a:t>
            </a:r>
            <a:r>
              <a:rPr lang="en-US" sz="2000" dirty="0" smtClean="0"/>
              <a:t> checkbox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mengakses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layar</a:t>
            </a:r>
            <a:r>
              <a:rPr lang="en-US" sz="2000" dirty="0" smtClean="0"/>
              <a:t> </a:t>
            </a:r>
            <a:r>
              <a:rPr lang="en-US" sz="2000" dirty="0" err="1" smtClean="0"/>
              <a:t>kecil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smartphone. </a:t>
            </a:r>
            <a:r>
              <a:rPr lang="en-US" sz="2000" dirty="0" err="1" smtClean="0"/>
              <a:t>Ketika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 </a:t>
            </a:r>
            <a:r>
              <a:rPr lang="en-US" sz="2000" dirty="0" err="1" smtClean="0"/>
              <a:t>klik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dalam</a:t>
            </a:r>
            <a:r>
              <a:rPr lang="en-US" sz="2000" dirty="0" smtClean="0"/>
              <a:t> label, </a:t>
            </a:r>
            <a:r>
              <a:rPr lang="en-US" sz="2000" dirty="0" err="1" smtClean="0"/>
              <a:t>maka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tersebut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otomatis</a:t>
            </a:r>
            <a:r>
              <a:rPr lang="en-US" sz="2000" dirty="0" smtClean="0"/>
              <a:t> </a:t>
            </a:r>
            <a:r>
              <a:rPr lang="en-US" sz="2000" dirty="0" err="1" smtClean="0"/>
              <a:t>berubah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radio </a:t>
            </a:r>
            <a:r>
              <a:rPr lang="en-US" sz="2000" dirty="0" err="1" smtClean="0"/>
              <a:t>atau</a:t>
            </a:r>
            <a:r>
              <a:rPr lang="en-US" sz="2000" dirty="0" smtClean="0"/>
              <a:t> checkbox.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for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tag &lt;label&gt;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sama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id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tag &lt;input&gt;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mengikat</a:t>
            </a:r>
            <a:r>
              <a:rPr lang="en-US" sz="2000" dirty="0" smtClean="0"/>
              <a:t> </a:t>
            </a:r>
            <a:r>
              <a:rPr lang="en-US" sz="2000" dirty="0" err="1" smtClean="0"/>
              <a:t>mereka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06907" y="5069816"/>
            <a:ext cx="5491950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simpan.php“</a:t>
            </a:r>
            <a:r>
              <a:rPr lang="en-US" sz="16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"post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Nama :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 id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7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Atribut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9155100" cy="2741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Elemen</a:t>
            </a:r>
            <a:r>
              <a:rPr lang="en-US" sz="2000" dirty="0" smtClean="0"/>
              <a:t> input </a:t>
            </a:r>
            <a:r>
              <a:rPr lang="en-US" sz="2000" dirty="0" err="1" smtClean="0"/>
              <a:t>mempunyai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err="1" smtClean="0"/>
              <a:t>penting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>
                <a:solidFill>
                  <a:srgbClr val="00B0F0"/>
                </a:solidFill>
              </a:rPr>
              <a:t>type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jenis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 yang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dibuat</a:t>
            </a:r>
            <a:r>
              <a:rPr lang="en-US" sz="2000" dirty="0" smtClean="0"/>
              <a:t> (text, radio, checkbox)</a:t>
            </a:r>
          </a:p>
          <a:p>
            <a:r>
              <a:rPr lang="en-US" sz="2000" dirty="0" smtClean="0">
                <a:solidFill>
                  <a:srgbClr val="00B0F0"/>
                </a:solidFill>
              </a:rPr>
              <a:t>id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memberi</a:t>
            </a:r>
            <a:r>
              <a:rPr lang="en-US" sz="2000" dirty="0" smtClean="0"/>
              <a:t> </a:t>
            </a:r>
            <a:r>
              <a:rPr lang="en-US" sz="2000" dirty="0" err="1" smtClean="0"/>
              <a:t>identitas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. </a:t>
            </a:r>
            <a:r>
              <a:rPr lang="en-US" sz="2000" dirty="0" err="1" smtClean="0"/>
              <a:t>Berguna</a:t>
            </a:r>
            <a:r>
              <a:rPr lang="en-US" sz="2000" dirty="0" smtClean="0"/>
              <a:t> </a:t>
            </a:r>
            <a:r>
              <a:rPr lang="en-US" sz="2000" dirty="0" err="1" smtClean="0"/>
              <a:t>saat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javascript</a:t>
            </a:r>
            <a:endParaRPr lang="en-US" sz="2000" dirty="0" smtClean="0"/>
          </a:p>
          <a:p>
            <a:r>
              <a:rPr lang="en-US" sz="2000" dirty="0">
                <a:solidFill>
                  <a:srgbClr val="00B0F0"/>
                </a:solidFill>
              </a:rPr>
              <a:t>n</a:t>
            </a:r>
            <a:r>
              <a:rPr lang="en-US" sz="2000" dirty="0" smtClean="0">
                <a:solidFill>
                  <a:srgbClr val="00B0F0"/>
                </a:solidFill>
              </a:rPr>
              <a:t>ame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memberi</a:t>
            </a:r>
            <a:r>
              <a:rPr lang="en-US" sz="2000" dirty="0" smtClean="0"/>
              <a:t> </a:t>
            </a:r>
            <a:r>
              <a:rPr lang="en-US" sz="2000" dirty="0" err="1" smtClean="0"/>
              <a:t>nama</a:t>
            </a:r>
            <a:r>
              <a:rPr lang="en-US" sz="2000" dirty="0" smtClean="0"/>
              <a:t> </a:t>
            </a:r>
            <a:r>
              <a:rPr lang="en-US" sz="2000" dirty="0" err="1" smtClean="0"/>
              <a:t>kepada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. </a:t>
            </a:r>
            <a:r>
              <a:rPr lang="en-US" sz="2000" dirty="0" err="1" smtClean="0"/>
              <a:t>Jika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diberi</a:t>
            </a:r>
            <a:r>
              <a:rPr lang="en-US" sz="2000" dirty="0" smtClean="0"/>
              <a:t> </a:t>
            </a:r>
            <a:r>
              <a:rPr lang="en-US" sz="2000" dirty="0" err="1" smtClean="0"/>
              <a:t>nama</a:t>
            </a:r>
            <a:r>
              <a:rPr lang="en-US" sz="2000" dirty="0" smtClean="0"/>
              <a:t> </a:t>
            </a:r>
            <a:r>
              <a:rPr lang="en-US" sz="2000" dirty="0" err="1" smtClean="0"/>
              <a:t>maka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 (data input yang </a:t>
            </a:r>
            <a:r>
              <a:rPr lang="en-US" sz="2000" dirty="0" err="1" smtClean="0"/>
              <a:t>dimasukkan</a:t>
            </a:r>
            <a:r>
              <a:rPr lang="en-US" sz="2000" dirty="0" smtClean="0"/>
              <a:t> </a:t>
            </a:r>
            <a:r>
              <a:rPr lang="en-US" sz="2000" dirty="0" err="1" smtClean="0"/>
              <a:t>pengguna</a:t>
            </a:r>
            <a:r>
              <a:rPr lang="en-US" sz="2000" dirty="0" smtClean="0"/>
              <a:t>)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dikirim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server.</a:t>
            </a:r>
          </a:p>
          <a:p>
            <a:r>
              <a:rPr lang="en-US" sz="2000" dirty="0" smtClean="0">
                <a:solidFill>
                  <a:srgbClr val="00B0F0"/>
                </a:solidFill>
              </a:rPr>
              <a:t>value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memberi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awal</a:t>
            </a:r>
            <a:r>
              <a:rPr lang="en-US" sz="2000" dirty="0" smtClean="0"/>
              <a:t> </a:t>
            </a:r>
            <a:r>
              <a:rPr lang="en-US" sz="2000" dirty="0" err="1" smtClean="0"/>
              <a:t>kepada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input.</a:t>
            </a: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72229" y="4789714"/>
            <a:ext cx="9091448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simpan.php“</a:t>
            </a:r>
            <a:r>
              <a:rPr lang="en-US" sz="16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"post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Nama :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"text id=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“ value=“Andi 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Bangkit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Sanjaya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”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19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Tombol</a:t>
            </a:r>
            <a:r>
              <a:rPr lang="en-US" dirty="0" smtClean="0"/>
              <a:t> submit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9155100" cy="132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Bagian</a:t>
            </a:r>
            <a:r>
              <a:rPr lang="en-US" sz="2000" dirty="0" smtClean="0"/>
              <a:t> </a:t>
            </a:r>
            <a:r>
              <a:rPr lang="en-US" sz="2000" dirty="0" err="1" smtClean="0"/>
              <a:t>penting</a:t>
            </a:r>
            <a:r>
              <a:rPr lang="en-US" sz="2000" dirty="0" smtClean="0"/>
              <a:t> </a:t>
            </a:r>
            <a:r>
              <a:rPr lang="en-US" sz="2000" dirty="0" err="1" smtClean="0"/>
              <a:t>lainnya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form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submit.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akan</a:t>
            </a:r>
            <a:r>
              <a:rPr lang="en-US" sz="2000" dirty="0" smtClean="0"/>
              <a:t> </a:t>
            </a:r>
            <a:r>
              <a:rPr lang="en-US" sz="2000" dirty="0" err="1" smtClean="0"/>
              <a:t>mengirimkan</a:t>
            </a:r>
            <a:r>
              <a:rPr lang="en-US" sz="2000" dirty="0" smtClean="0"/>
              <a:t> data form </a:t>
            </a:r>
            <a:r>
              <a:rPr lang="en-US" sz="2000" dirty="0" err="1" smtClean="0"/>
              <a:t>ke</a:t>
            </a:r>
            <a:r>
              <a:rPr lang="en-US" sz="2000" dirty="0" smtClean="0"/>
              <a:t> server </a:t>
            </a:r>
            <a:r>
              <a:rPr lang="en-US" sz="2000" dirty="0" err="1" smtClean="0"/>
              <a:t>jika</a:t>
            </a:r>
            <a:r>
              <a:rPr lang="en-US" sz="2000" dirty="0" smtClean="0"/>
              <a:t> </a:t>
            </a:r>
            <a:r>
              <a:rPr lang="en-US" sz="2000" dirty="0" err="1" smtClean="0"/>
              <a:t>diklik</a:t>
            </a:r>
            <a:r>
              <a:rPr lang="en-US" sz="2000" dirty="0" smtClean="0"/>
              <a:t>.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tombol</a:t>
            </a:r>
            <a:r>
              <a:rPr lang="en-US" sz="2000" dirty="0" smtClean="0"/>
              <a:t> submit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type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 </a:t>
            </a:r>
            <a:r>
              <a:rPr lang="en-US" sz="2000" dirty="0" err="1" smtClean="0"/>
              <a:t>diberi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‘</a:t>
            </a:r>
            <a:r>
              <a:rPr lang="en-US" sz="2000" dirty="0" smtClean="0">
                <a:solidFill>
                  <a:srgbClr val="C00000"/>
                </a:solidFill>
              </a:rPr>
              <a:t>submit</a:t>
            </a:r>
            <a:r>
              <a:rPr lang="en-US" sz="2000" dirty="0" smtClean="0"/>
              <a:t>’. </a:t>
            </a:r>
            <a:r>
              <a:rPr lang="en-US" sz="2000" dirty="0" err="1" smtClean="0"/>
              <a:t>Atribut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value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 submit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membuat</a:t>
            </a:r>
            <a:r>
              <a:rPr lang="en-US" sz="2000" dirty="0" smtClean="0"/>
              <a:t> 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nama</a:t>
            </a:r>
            <a:r>
              <a:rPr lang="en-US" sz="2000" dirty="0" smtClean="0"/>
              <a:t> </a:t>
            </a:r>
            <a:r>
              <a:rPr lang="en-US" sz="2000" dirty="0" err="1" smtClean="0"/>
              <a:t>tombol</a:t>
            </a:r>
            <a:r>
              <a:rPr lang="en-US" sz="2000" dirty="0" smtClean="0"/>
              <a:t>.</a:t>
            </a: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09372" y="3643085"/>
            <a:ext cx="9091448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simpan.php“</a:t>
            </a:r>
            <a:r>
              <a:rPr lang="en-US" sz="16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"post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Nama :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"text id=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“ value=“Andi 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Bangkit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Sanjaya</a:t>
            </a:r>
            <a:r>
              <a:rPr lang="en-US" sz="16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”</a:t>
            </a:r>
            <a:r>
              <a:rPr lang="en-US" sz="1600" b="1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51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Inputan</a:t>
            </a:r>
            <a:r>
              <a:rPr lang="en-US" dirty="0" smtClean="0"/>
              <a:t>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9155100" cy="386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Ada </a:t>
            </a:r>
            <a:r>
              <a:rPr lang="en-US" sz="2000" dirty="0" err="1" smtClean="0"/>
              <a:t>banyak</a:t>
            </a:r>
            <a:r>
              <a:rPr lang="en-US" sz="2000" dirty="0" smtClean="0"/>
              <a:t> </a:t>
            </a:r>
            <a:r>
              <a:rPr lang="en-US" sz="2000" dirty="0" err="1" smtClean="0"/>
              <a:t>jenis</a:t>
            </a:r>
            <a:r>
              <a:rPr lang="en-US" sz="2000" dirty="0" smtClean="0"/>
              <a:t> </a:t>
            </a:r>
            <a:r>
              <a:rPr lang="en-US" sz="2000" dirty="0" err="1" smtClean="0"/>
              <a:t>inputan</a:t>
            </a:r>
            <a:r>
              <a:rPr lang="en-US" sz="2000" dirty="0" smtClean="0"/>
              <a:t> form yang </a:t>
            </a:r>
            <a:r>
              <a:rPr lang="en-US" sz="2000" dirty="0" err="1" smtClean="0"/>
              <a:t>kebanyakan</a:t>
            </a:r>
            <a:r>
              <a:rPr lang="en-US" sz="2000" dirty="0" smtClean="0"/>
              <a:t> </a:t>
            </a:r>
            <a:r>
              <a:rPr lang="en-US" sz="2000" dirty="0" err="1" smtClean="0"/>
              <a:t>dibuat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input, al:</a:t>
            </a:r>
          </a:p>
          <a:p>
            <a:r>
              <a:rPr lang="en-US" sz="1800" dirty="0" smtClean="0"/>
              <a:t>text</a:t>
            </a:r>
          </a:p>
          <a:p>
            <a:r>
              <a:rPr lang="en-US" sz="1800" dirty="0" smtClean="0"/>
              <a:t>radio</a:t>
            </a:r>
          </a:p>
          <a:p>
            <a:r>
              <a:rPr lang="en-US" dirty="0" smtClean="0"/>
              <a:t>checkbox</a:t>
            </a:r>
            <a:endParaRPr lang="en-US" sz="1800" dirty="0" smtClean="0"/>
          </a:p>
          <a:p>
            <a:r>
              <a:rPr lang="en-US" dirty="0" smtClean="0"/>
              <a:t>password</a:t>
            </a:r>
          </a:p>
          <a:p>
            <a:r>
              <a:rPr lang="en-US" sz="1800" dirty="0" smtClean="0"/>
              <a:t>email</a:t>
            </a:r>
          </a:p>
          <a:p>
            <a:r>
              <a:rPr lang="en-US" dirty="0" smtClean="0"/>
              <a:t>date</a:t>
            </a:r>
          </a:p>
          <a:p>
            <a:r>
              <a:rPr lang="en-US" dirty="0" smtClean="0"/>
              <a:t>hidden</a:t>
            </a:r>
          </a:p>
          <a:p>
            <a:r>
              <a:rPr lang="en-US" dirty="0" smtClean="0"/>
              <a:t>file</a:t>
            </a:r>
          </a:p>
          <a:p>
            <a:r>
              <a:rPr lang="en-US" dirty="0" smtClean="0"/>
              <a:t>image</a:t>
            </a:r>
          </a:p>
          <a:p>
            <a:pPr marL="0" indent="0">
              <a:buNone/>
            </a:pPr>
            <a:r>
              <a:rPr lang="en-US" dirty="0" smtClean="0"/>
              <a:t>Ada </a:t>
            </a:r>
            <a:r>
              <a:rPr lang="en-US" dirty="0" err="1" smtClean="0"/>
              <a:t>beberapa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input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membuatnya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textarea</a:t>
            </a:r>
            <a:endParaRPr lang="en-US" dirty="0" smtClean="0"/>
          </a:p>
          <a:p>
            <a:r>
              <a:rPr lang="en-US" dirty="0" smtClean="0"/>
              <a:t>select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53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Inputan</a:t>
            </a:r>
            <a:r>
              <a:rPr lang="en-US" dirty="0" smtClean="0"/>
              <a:t>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169832"/>
            <a:ext cx="7181158" cy="3868111"/>
          </a:xfrm>
          <a:solidFill>
            <a:schemeClr val="tx1"/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Nama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Jenis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kelamin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Pria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wanita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ftglhr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Tanggal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lahir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"date"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ftglhr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ftglhr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fhobi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Hobi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"checkbox"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"fhobi1"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fhobil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Fitness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"checkbox"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"fhobi2"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"fhobi2"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Reading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fprodi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Program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studi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fprodi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fprodi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"SI"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Sistem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Informasi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S1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"TI"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Teknik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Informatika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S1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"DKV"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Desain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Komunikasi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Visual S1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File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tugas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"file"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ftgs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fpass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Password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"password"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fpass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fpass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fket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Keterangan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textarea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fket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fket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cols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"30"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rows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"10"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textarea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6220" r="81419" b="11903"/>
          <a:stretch/>
        </p:blipFill>
        <p:spPr>
          <a:xfrm>
            <a:off x="9145195" y="1037478"/>
            <a:ext cx="241761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9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DIV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41928" y="2034709"/>
            <a:ext cx="9744637" cy="10278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mtClean="0"/>
              <a:t>Elemen</a:t>
            </a:r>
            <a:r>
              <a:rPr lang="en-US" dirty="0" smtClean="0"/>
              <a:t> html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agak</a:t>
            </a:r>
            <a:r>
              <a:rPr lang="en-US" dirty="0" smtClean="0"/>
              <a:t> </a:t>
            </a:r>
            <a:r>
              <a:rPr lang="en-US" dirty="0" err="1" smtClean="0"/>
              <a:t>berbeda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html </a:t>
            </a:r>
            <a:r>
              <a:rPr lang="en-US" dirty="0" err="1" smtClean="0"/>
              <a:t>lainnya</a:t>
            </a:r>
            <a:r>
              <a:rPr lang="en-US" dirty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hal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kurang</a:t>
            </a:r>
            <a:r>
              <a:rPr lang="en-US" dirty="0" smtClean="0"/>
              <a:t> </a:t>
            </a:r>
            <a:r>
              <a:rPr lang="en-US" dirty="0" err="1" smtClean="0"/>
              <a:t>begitu</a:t>
            </a:r>
            <a:r>
              <a:rPr lang="en-US" dirty="0" smtClean="0"/>
              <a:t> </a:t>
            </a:r>
            <a:r>
              <a:rPr lang="en-US" dirty="0" err="1" smtClean="0"/>
              <a:t>jelas</a:t>
            </a:r>
            <a:r>
              <a:rPr lang="en-US" dirty="0" smtClean="0"/>
              <a:t>. </a:t>
            </a:r>
            <a:r>
              <a:rPr lang="en-US" dirty="0" err="1" smtClean="0"/>
              <a:t>Tetapi</a:t>
            </a:r>
            <a:r>
              <a:rPr lang="en-US" dirty="0" smtClean="0"/>
              <a:t> </a:t>
            </a:r>
            <a:r>
              <a:rPr lang="en-US" dirty="0" err="1" smtClean="0"/>
              <a:t>khusus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div, </a:t>
            </a:r>
            <a:r>
              <a:rPr lang="en-US" dirty="0" err="1" smtClean="0"/>
              <a:t>peranannya</a:t>
            </a:r>
            <a:r>
              <a:rPr lang="en-US" dirty="0" smtClean="0"/>
              <a:t>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hal</a:t>
            </a:r>
            <a:r>
              <a:rPr lang="en-US" dirty="0" smtClean="0"/>
              <a:t> </a:t>
            </a:r>
            <a:r>
              <a:rPr lang="en-US" dirty="0" err="1" smtClean="0"/>
              <a:t>pengaturan</a:t>
            </a:r>
            <a:r>
              <a:rPr lang="en-US" dirty="0" smtClean="0"/>
              <a:t> </a:t>
            </a:r>
            <a:r>
              <a:rPr lang="en-US" dirty="0" err="1" smtClean="0"/>
              <a:t>tata</a:t>
            </a:r>
            <a:r>
              <a:rPr lang="en-US" dirty="0" smtClean="0"/>
              <a:t> </a:t>
            </a:r>
            <a:r>
              <a:rPr lang="en-US" dirty="0" err="1" smtClean="0"/>
              <a:t>letak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layout </a:t>
            </a:r>
            <a:r>
              <a:rPr lang="en-US" dirty="0" err="1" smtClean="0"/>
              <a:t>halaman</a:t>
            </a:r>
            <a:r>
              <a:rPr lang="en-US" dirty="0" smtClean="0"/>
              <a:t>. </a:t>
            </a:r>
            <a:r>
              <a:rPr lang="en-US" dirty="0" err="1" smtClean="0"/>
              <a:t>Bersama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css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dijumpai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layouting</a:t>
            </a:r>
            <a:r>
              <a:rPr lang="en-US" dirty="0" smtClean="0"/>
              <a:t>.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div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layouting</a:t>
            </a:r>
            <a:r>
              <a:rPr lang="en-US" dirty="0" smtClean="0"/>
              <a:t> form (</a:t>
            </a:r>
            <a:r>
              <a:rPr lang="en-US" dirty="0" err="1" smtClean="0"/>
              <a:t>jadi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lagi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&lt;</a:t>
            </a:r>
            <a:r>
              <a:rPr lang="en-US" dirty="0" err="1" smtClean="0"/>
              <a:t>br</a:t>
            </a:r>
            <a:r>
              <a:rPr lang="en-US" dirty="0" smtClean="0"/>
              <a:t>&gt;: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62728" y="3062514"/>
            <a:ext cx="6876358" cy="36009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simpan.php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"post"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Nama :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fnama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Jenis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kelamin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: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label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Pria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"radio"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fjkel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wanita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"Submit"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form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12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Elemen</a:t>
            </a:r>
            <a:r>
              <a:rPr lang="en-US" dirty="0" smtClean="0"/>
              <a:t> Block </a:t>
            </a:r>
            <a:r>
              <a:rPr lang="en-US" dirty="0" err="1" smtClean="0"/>
              <a:t>dan</a:t>
            </a:r>
            <a:r>
              <a:rPr lang="en-US" dirty="0" smtClean="0"/>
              <a:t> Inline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726867" cy="42282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err="1" smtClean="0"/>
              <a:t>Setiap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html </a:t>
            </a:r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display default. Ada </a:t>
            </a:r>
            <a:r>
              <a:rPr lang="en-US" sz="2000" dirty="0" err="1" smtClean="0"/>
              <a:t>dua</a:t>
            </a:r>
            <a:r>
              <a:rPr lang="en-US" sz="2000" dirty="0" smtClean="0"/>
              <a:t> </a:t>
            </a:r>
            <a:r>
              <a:rPr lang="en-US" sz="2000" dirty="0" err="1" smtClean="0"/>
              <a:t>nilai</a:t>
            </a:r>
            <a:r>
              <a:rPr lang="en-US" sz="2000" dirty="0" smtClean="0"/>
              <a:t> display </a:t>
            </a:r>
            <a:r>
              <a:rPr lang="en-US" sz="2000" dirty="0" err="1" smtClean="0"/>
              <a:t>yaitu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block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inline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Ciri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block:</a:t>
            </a:r>
          </a:p>
          <a:p>
            <a:pPr marL="623888"/>
            <a:r>
              <a:rPr lang="en-US" sz="2000" dirty="0" err="1"/>
              <a:t>s</a:t>
            </a:r>
            <a:r>
              <a:rPr lang="en-US" sz="2000" dirty="0" err="1" smtClean="0"/>
              <a:t>elalu</a:t>
            </a:r>
            <a:r>
              <a:rPr lang="en-US" sz="2000" dirty="0" smtClean="0"/>
              <a:t> </a:t>
            </a:r>
            <a:r>
              <a:rPr lang="en-US" sz="2000" dirty="0" err="1" smtClean="0"/>
              <a:t>ditampilkan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mulai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baru</a:t>
            </a:r>
            <a:endParaRPr lang="en-US" sz="2000" dirty="0" smtClean="0"/>
          </a:p>
          <a:p>
            <a:pPr marL="623888"/>
            <a:r>
              <a:rPr lang="en-US" sz="2000" dirty="0" err="1" smtClean="0"/>
              <a:t>selalu</a:t>
            </a:r>
            <a:r>
              <a:rPr lang="en-US" sz="2000" dirty="0" smtClean="0"/>
              <a:t> </a:t>
            </a:r>
            <a:r>
              <a:rPr lang="en-US" sz="2000" dirty="0" err="1" smtClean="0"/>
              <a:t>menempati</a:t>
            </a:r>
            <a:r>
              <a:rPr lang="en-US" sz="2000" dirty="0" smtClean="0"/>
              <a:t> </a:t>
            </a:r>
            <a:r>
              <a:rPr lang="en-US" sz="2000" dirty="0" err="1" smtClean="0"/>
              <a:t>seluruh</a:t>
            </a:r>
            <a:r>
              <a:rPr lang="en-US" sz="2000" dirty="0" smtClean="0"/>
              <a:t> </a:t>
            </a:r>
            <a:r>
              <a:rPr lang="en-US" sz="2000" dirty="0" err="1" smtClean="0"/>
              <a:t>lebar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tersedia</a:t>
            </a:r>
            <a:r>
              <a:rPr lang="en-US" sz="2000" dirty="0" smtClean="0"/>
              <a:t>. </a:t>
            </a:r>
            <a:r>
              <a:rPr lang="en-US" sz="2000" dirty="0" err="1"/>
              <a:t>T</a:t>
            </a:r>
            <a:r>
              <a:rPr lang="en-US" sz="2000" dirty="0" err="1" smtClean="0"/>
              <a:t>erentang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kiri</a:t>
            </a:r>
            <a:r>
              <a:rPr lang="en-US" sz="2000" dirty="0" smtClean="0"/>
              <a:t> </a:t>
            </a:r>
            <a:r>
              <a:rPr lang="en-US" sz="2000" dirty="0" err="1" smtClean="0"/>
              <a:t>sampai</a:t>
            </a:r>
            <a:r>
              <a:rPr lang="en-US" sz="2000" dirty="0" smtClean="0"/>
              <a:t> </a:t>
            </a:r>
            <a:r>
              <a:rPr lang="en-US" sz="2000" dirty="0" err="1" smtClean="0"/>
              <a:t>kanan</a:t>
            </a:r>
            <a:r>
              <a:rPr lang="en-US" sz="2000" dirty="0" smtClean="0"/>
              <a:t> </a:t>
            </a:r>
            <a:r>
              <a:rPr lang="en-US" sz="2000" dirty="0" err="1" smtClean="0"/>
              <a:t>layar</a:t>
            </a:r>
            <a:r>
              <a:rPr lang="en-US" sz="2000" dirty="0" smtClean="0"/>
              <a:t> browser.</a:t>
            </a:r>
          </a:p>
          <a:p>
            <a:pPr marL="623888"/>
            <a:r>
              <a:rPr lang="en-US" sz="2000" dirty="0" err="1" smtClean="0"/>
              <a:t>memiliki</a:t>
            </a:r>
            <a:r>
              <a:rPr lang="en-US" sz="2000" dirty="0" smtClean="0"/>
              <a:t> </a:t>
            </a:r>
            <a:r>
              <a:rPr lang="en-US" sz="2000" dirty="0" err="1" smtClean="0"/>
              <a:t>batas</a:t>
            </a:r>
            <a:r>
              <a:rPr lang="en-US" sz="2000" dirty="0" smtClean="0"/>
              <a:t> </a:t>
            </a:r>
            <a:r>
              <a:rPr lang="en-US" sz="2000" dirty="0" err="1" smtClean="0"/>
              <a:t>atas</a:t>
            </a:r>
            <a:r>
              <a:rPr lang="en-US" sz="2000" dirty="0" smtClean="0"/>
              <a:t> (top margin)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bawah</a:t>
            </a:r>
            <a:r>
              <a:rPr lang="en-US" sz="2000" dirty="0" smtClean="0"/>
              <a:t> (bottom margin)</a:t>
            </a:r>
          </a:p>
          <a:p>
            <a:pPr marL="0" indent="0">
              <a:buNone/>
            </a:pPr>
            <a:r>
              <a:rPr lang="en-US" sz="2000" dirty="0" err="1" smtClean="0"/>
              <a:t>Contoh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block:</a:t>
            </a:r>
          </a:p>
          <a:p>
            <a:pPr marL="623888" indent="0">
              <a:buNone/>
            </a:pPr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hn</a:t>
            </a:r>
            <a:r>
              <a:rPr lang="en-US" sz="2000" dirty="0" smtClean="0">
                <a:solidFill>
                  <a:srgbClr val="00B0F0"/>
                </a:solidFill>
              </a:rPr>
              <a:t>&gt;, &lt;p&gt;, &lt;div&gt;, &lt;</a:t>
            </a:r>
            <a:r>
              <a:rPr lang="en-US" sz="2000" dirty="0" err="1" smtClean="0">
                <a:solidFill>
                  <a:srgbClr val="00B0F0"/>
                </a:solidFill>
              </a:rPr>
              <a:t>ol</a:t>
            </a:r>
            <a:r>
              <a:rPr lang="en-US" sz="2000" dirty="0" smtClean="0">
                <a:solidFill>
                  <a:srgbClr val="00B0F0"/>
                </a:solidFill>
              </a:rPr>
              <a:t>&gt;, &lt;</a:t>
            </a:r>
            <a:r>
              <a:rPr lang="en-US" sz="2000" dirty="0" err="1" smtClean="0">
                <a:solidFill>
                  <a:srgbClr val="00B0F0"/>
                </a:solidFill>
              </a:rPr>
              <a:t>ul</a:t>
            </a:r>
            <a:r>
              <a:rPr lang="en-US" sz="2000" dirty="0" smtClean="0">
                <a:solidFill>
                  <a:srgbClr val="00B0F0"/>
                </a:solidFill>
              </a:rPr>
              <a:t>&gt;, &lt;table&gt;, &lt;li&gt;,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&lt;form&gt;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 smtClean="0"/>
              <a:t>Ciri</a:t>
            </a:r>
            <a:r>
              <a:rPr lang="en-US" sz="2000" dirty="0" smtClean="0"/>
              <a:t> </a:t>
            </a:r>
            <a:r>
              <a:rPr lang="en-US" sz="2000" dirty="0" err="1" smtClean="0"/>
              <a:t>elemen</a:t>
            </a:r>
            <a:r>
              <a:rPr lang="en-US" sz="2000" dirty="0" smtClean="0"/>
              <a:t> inline:</a:t>
            </a:r>
          </a:p>
          <a:p>
            <a:pPr marL="623888"/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dimulai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baru</a:t>
            </a:r>
            <a:endParaRPr lang="en-US" sz="2000" dirty="0" smtClean="0"/>
          </a:p>
          <a:p>
            <a:pPr marL="623888"/>
            <a:r>
              <a:rPr lang="en-US" sz="2000" dirty="0" err="1" smtClean="0"/>
              <a:t>hanya</a:t>
            </a:r>
            <a:r>
              <a:rPr lang="en-US" sz="2000" dirty="0" smtClean="0"/>
              <a:t> </a:t>
            </a:r>
            <a:r>
              <a:rPr lang="en-US" sz="2000" dirty="0" err="1" smtClean="0"/>
              <a:t>menempati</a:t>
            </a:r>
            <a:r>
              <a:rPr lang="en-US" sz="2000" dirty="0" smtClean="0"/>
              <a:t> </a:t>
            </a:r>
            <a:r>
              <a:rPr lang="en-US" sz="2000" dirty="0" err="1" smtClean="0"/>
              <a:t>lebar</a:t>
            </a:r>
            <a:r>
              <a:rPr lang="en-US" sz="2000" dirty="0" smtClean="0"/>
              <a:t> </a:t>
            </a:r>
            <a:r>
              <a:rPr lang="en-US" sz="2000" dirty="0" err="1" smtClean="0"/>
              <a:t>seperlunya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Contoh</a:t>
            </a:r>
            <a:r>
              <a:rPr lang="en-US" sz="2000" dirty="0" smtClean="0"/>
              <a:t>:</a:t>
            </a:r>
          </a:p>
          <a:p>
            <a:pPr marL="623888" indent="0">
              <a:buNone/>
            </a:pPr>
            <a:r>
              <a:rPr lang="en-US" sz="2000" dirty="0" smtClean="0">
                <a:solidFill>
                  <a:srgbClr val="00B0F0"/>
                </a:solidFill>
              </a:rPr>
              <a:t>&lt;span&gt;, &lt;a&gt;, &lt;</a:t>
            </a:r>
            <a:r>
              <a:rPr lang="en-US" sz="2000" dirty="0" err="1" smtClean="0">
                <a:solidFill>
                  <a:srgbClr val="00B0F0"/>
                </a:solidFill>
              </a:rPr>
              <a:t>br</a:t>
            </a:r>
            <a:r>
              <a:rPr lang="en-US" sz="2000" dirty="0" smtClean="0">
                <a:solidFill>
                  <a:srgbClr val="00B0F0"/>
                </a:solidFill>
              </a:rPr>
              <a:t>&gt;, &lt;</a:t>
            </a:r>
            <a:r>
              <a:rPr lang="en-US" sz="2000" dirty="0" err="1" smtClean="0">
                <a:solidFill>
                  <a:srgbClr val="00B0F0"/>
                </a:solidFill>
              </a:rPr>
              <a:t>img</a:t>
            </a:r>
            <a:r>
              <a:rPr lang="en-US" sz="2000" dirty="0" smtClean="0">
                <a:solidFill>
                  <a:srgbClr val="00B0F0"/>
                </a:solidFill>
              </a:rPr>
              <a:t>&gt;, &lt;input&gt;, &lt;label&gt;, &lt;select&gt;,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</a:rPr>
              <a:t>textarea</a:t>
            </a:r>
            <a:r>
              <a:rPr lang="en-US" sz="2000" dirty="0" smtClean="0">
                <a:solidFill>
                  <a:srgbClr val="00B0F0"/>
                </a:solidFill>
              </a:rPr>
              <a:t>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81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9" y="2034709"/>
            <a:ext cx="4742758" cy="4228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Situs web yang </a:t>
            </a:r>
            <a:r>
              <a:rPr lang="en-US" sz="2000" dirty="0" err="1" smtClean="0"/>
              <a:t>kita</a:t>
            </a:r>
            <a:r>
              <a:rPr lang="en-US" sz="2000" dirty="0" smtClean="0"/>
              <a:t> </a:t>
            </a:r>
            <a:r>
              <a:rPr lang="en-US" sz="2000" dirty="0" err="1" smtClean="0"/>
              <a:t>lihat</a:t>
            </a:r>
            <a:r>
              <a:rPr lang="en-US" sz="2000" dirty="0" smtClean="0"/>
              <a:t> di internet </a:t>
            </a:r>
            <a:r>
              <a:rPr lang="en-US" sz="2000" dirty="0" err="1" smtClean="0"/>
              <a:t>menampilkan</a:t>
            </a:r>
            <a:r>
              <a:rPr lang="en-US" sz="2000" dirty="0" smtClean="0"/>
              <a:t> </a:t>
            </a:r>
            <a:r>
              <a:rPr lang="en-US" sz="2000" dirty="0" err="1" smtClean="0"/>
              <a:t>kontennya</a:t>
            </a:r>
            <a:r>
              <a:rPr lang="en-US" sz="2000" dirty="0" smtClean="0"/>
              <a:t> </a:t>
            </a:r>
            <a:r>
              <a:rPr lang="en-US" sz="2000" dirty="0" err="1" smtClean="0"/>
              <a:t>diatur</a:t>
            </a:r>
            <a:r>
              <a:rPr lang="en-US" sz="2000" dirty="0" smtClean="0"/>
              <a:t> </a:t>
            </a:r>
            <a:r>
              <a:rPr lang="en-US" sz="2000" dirty="0" err="1" smtClean="0"/>
              <a:t>sedemikian</a:t>
            </a:r>
            <a:r>
              <a:rPr lang="en-US" sz="2000" dirty="0" smtClean="0"/>
              <a:t> </a:t>
            </a:r>
            <a:r>
              <a:rPr lang="en-US" sz="2000" dirty="0" err="1" smtClean="0"/>
              <a:t>rupa</a:t>
            </a:r>
            <a:r>
              <a:rPr lang="en-US" sz="2000" dirty="0" smtClean="0"/>
              <a:t>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enak</a:t>
            </a:r>
            <a:r>
              <a:rPr lang="en-US" sz="2000" dirty="0" smtClean="0"/>
              <a:t> </a:t>
            </a:r>
            <a:r>
              <a:rPr lang="en-US" sz="2000" dirty="0" err="1" smtClean="0"/>
              <a:t>dinikmati</a:t>
            </a:r>
            <a:r>
              <a:rPr lang="en-US" sz="2000" dirty="0" smtClean="0"/>
              <a:t>. Situs web </a:t>
            </a:r>
            <a:r>
              <a:rPr lang="en-US" sz="2000" dirty="0" err="1" smtClean="0"/>
              <a:t>seringnya</a:t>
            </a:r>
            <a:r>
              <a:rPr lang="en-US" sz="2000" dirty="0" smtClean="0"/>
              <a:t> </a:t>
            </a:r>
            <a:r>
              <a:rPr lang="en-US" sz="2000" dirty="0" err="1" smtClean="0"/>
              <a:t>membagi</a:t>
            </a:r>
            <a:r>
              <a:rPr lang="en-US" sz="2000" dirty="0" smtClean="0"/>
              <a:t> </a:t>
            </a:r>
            <a:r>
              <a:rPr lang="en-US" sz="2000" dirty="0" err="1" smtClean="0"/>
              <a:t>kontennya</a:t>
            </a:r>
            <a:r>
              <a:rPr lang="en-US" sz="2000" dirty="0" smtClean="0"/>
              <a:t> </a:t>
            </a:r>
            <a:r>
              <a:rPr lang="en-US" sz="2000" dirty="0" err="1" smtClean="0"/>
              <a:t>kedalam</a:t>
            </a:r>
            <a:r>
              <a:rPr lang="en-US" sz="2000" dirty="0" smtClean="0"/>
              <a:t> </a:t>
            </a:r>
            <a:r>
              <a:rPr lang="en-US" sz="2000" dirty="0" err="1" smtClean="0"/>
              <a:t>kolom-kolom</a:t>
            </a:r>
            <a:r>
              <a:rPr lang="en-US" sz="2000" dirty="0" smtClean="0"/>
              <a:t>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</a:t>
            </a:r>
            <a:r>
              <a:rPr lang="en-US" sz="2000" dirty="0" err="1" smtClean="0"/>
              <a:t>majalah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surat</a:t>
            </a:r>
            <a:r>
              <a:rPr lang="en-US" sz="2000" dirty="0" smtClean="0"/>
              <a:t> </a:t>
            </a:r>
            <a:r>
              <a:rPr lang="en-US" sz="2000" dirty="0" err="1" smtClean="0"/>
              <a:t>kabar</a:t>
            </a:r>
            <a:r>
              <a:rPr lang="en-US" sz="2000" dirty="0" smtClean="0"/>
              <a:t>. </a:t>
            </a:r>
            <a:r>
              <a:rPr lang="en-US" sz="2000" dirty="0" err="1" smtClean="0"/>
              <a:t>Menurut</a:t>
            </a:r>
            <a:r>
              <a:rPr lang="en-US" sz="2000" dirty="0" smtClean="0"/>
              <a:t> w3schools </a:t>
            </a:r>
            <a:r>
              <a:rPr lang="en-US" sz="2000" dirty="0" err="1" smtClean="0"/>
              <a:t>sebuah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dibagi</a:t>
            </a:r>
            <a:r>
              <a:rPr lang="en-US" sz="2000" dirty="0" smtClean="0"/>
              <a:t>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</a:t>
            </a:r>
            <a:r>
              <a:rPr lang="en-US" sz="2000" dirty="0" err="1" smtClean="0"/>
              <a:t>bagian</a:t>
            </a:r>
            <a:r>
              <a:rPr lang="en-US" sz="2000" dirty="0" smtClean="0"/>
              <a:t>:</a:t>
            </a:r>
          </a:p>
          <a:p>
            <a:pPr lvl="1"/>
            <a:r>
              <a:rPr lang="en-US" sz="1800" dirty="0" smtClean="0"/>
              <a:t>Header</a:t>
            </a:r>
          </a:p>
          <a:p>
            <a:pPr lvl="1"/>
            <a:r>
              <a:rPr lang="en-US" sz="1800" dirty="0" err="1" smtClean="0"/>
              <a:t>Nav</a:t>
            </a:r>
            <a:endParaRPr lang="en-US" sz="1800" dirty="0" smtClean="0"/>
          </a:p>
          <a:p>
            <a:pPr lvl="1"/>
            <a:r>
              <a:rPr lang="en-US" sz="1800" dirty="0" smtClean="0"/>
              <a:t>Section</a:t>
            </a:r>
          </a:p>
          <a:p>
            <a:pPr lvl="1"/>
            <a:r>
              <a:rPr lang="en-US" sz="1800" dirty="0" smtClean="0"/>
              <a:t>Article</a:t>
            </a:r>
          </a:p>
          <a:p>
            <a:pPr lvl="1"/>
            <a:r>
              <a:rPr lang="en-US" sz="1800" dirty="0" smtClean="0"/>
              <a:t>Aside</a:t>
            </a:r>
          </a:p>
          <a:p>
            <a:pPr lvl="1"/>
            <a:r>
              <a:rPr lang="en-US" sz="1800" dirty="0" smtClean="0"/>
              <a:t>Footer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670" t="41220" r="56135" b="14733"/>
          <a:stretch/>
        </p:blipFill>
        <p:spPr>
          <a:xfrm>
            <a:off x="7359933" y="1846729"/>
            <a:ext cx="3587075" cy="419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4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9" y="2034708"/>
            <a:ext cx="9372814" cy="4569291"/>
          </a:xfrm>
        </p:spPr>
        <p:txBody>
          <a:bodyPr>
            <a:normAutofit fontScale="92500" lnSpcReduction="10000"/>
          </a:bodyPr>
          <a:lstStyle/>
          <a:p>
            <a:pPr marL="174625" indent="-174625"/>
            <a:r>
              <a:rPr lang="en-US" sz="2000" b="1" dirty="0" smtClean="0">
                <a:solidFill>
                  <a:srgbClr val="00B0F0"/>
                </a:solidFill>
              </a:rPr>
              <a:t>Header</a:t>
            </a:r>
          </a:p>
          <a:p>
            <a:pPr marL="174625" lvl="1" indent="0">
              <a:buNone/>
            </a:pPr>
            <a:r>
              <a:rPr lang="en-US" sz="1800" dirty="0" err="1" smtClean="0"/>
              <a:t>Menampilkan</a:t>
            </a:r>
            <a:r>
              <a:rPr lang="en-US" sz="1800" dirty="0" smtClean="0"/>
              <a:t> </a:t>
            </a:r>
            <a:r>
              <a:rPr lang="en-US" sz="1800" dirty="0" err="1" smtClean="0"/>
              <a:t>judul</a:t>
            </a:r>
            <a:r>
              <a:rPr lang="en-US" sz="1800" dirty="0" smtClean="0"/>
              <a:t> situs web</a:t>
            </a:r>
          </a:p>
          <a:p>
            <a:pPr marL="174625" indent="-174625"/>
            <a:r>
              <a:rPr lang="en-US" sz="2100" b="1" dirty="0" err="1">
                <a:solidFill>
                  <a:srgbClr val="00B0F0"/>
                </a:solidFill>
              </a:rPr>
              <a:t>Nav</a:t>
            </a:r>
            <a:endParaRPr lang="en-US" sz="2100" b="1" dirty="0">
              <a:solidFill>
                <a:srgbClr val="00B0F0"/>
              </a:solidFill>
            </a:endParaRPr>
          </a:p>
          <a:p>
            <a:pPr marL="174625" lvl="1" indent="0">
              <a:buNone/>
            </a:pPr>
            <a:r>
              <a:rPr lang="en-US" sz="1800" dirty="0" err="1" smtClean="0"/>
              <a:t>Menampilkan</a:t>
            </a:r>
            <a:r>
              <a:rPr lang="en-US" sz="1800" dirty="0" smtClean="0"/>
              <a:t> </a:t>
            </a:r>
            <a:r>
              <a:rPr lang="en-US" sz="1800" dirty="0" err="1" smtClean="0"/>
              <a:t>sistem</a:t>
            </a:r>
            <a:r>
              <a:rPr lang="en-US" sz="1800" dirty="0" smtClean="0"/>
              <a:t> </a:t>
            </a:r>
            <a:r>
              <a:rPr lang="en-US" sz="1800" dirty="0" err="1" smtClean="0"/>
              <a:t>navigasi</a:t>
            </a:r>
            <a:r>
              <a:rPr lang="en-US" sz="1800" dirty="0" smtClean="0"/>
              <a:t> situs </a:t>
            </a:r>
            <a:r>
              <a:rPr lang="en-US" sz="1800" dirty="0" err="1" smtClean="0"/>
              <a:t>berupa</a:t>
            </a:r>
            <a:r>
              <a:rPr lang="en-US" sz="1800" dirty="0" smtClean="0"/>
              <a:t> menu-menu situs</a:t>
            </a:r>
          </a:p>
          <a:p>
            <a:pPr marL="174625" indent="-174625"/>
            <a:r>
              <a:rPr lang="en-US" sz="2100" b="1" dirty="0">
                <a:solidFill>
                  <a:srgbClr val="00B0F0"/>
                </a:solidFill>
              </a:rPr>
              <a:t>Section</a:t>
            </a:r>
          </a:p>
          <a:p>
            <a:pPr marL="174625" lvl="1" indent="0">
              <a:buNone/>
            </a:pPr>
            <a:r>
              <a:rPr lang="en-US" sz="1800" dirty="0" err="1" smtClean="0"/>
              <a:t>Dapat</a:t>
            </a:r>
            <a:r>
              <a:rPr lang="en-US" sz="1800" dirty="0" smtClean="0"/>
              <a:t> </a:t>
            </a:r>
            <a:r>
              <a:rPr lang="en-US" sz="1800" dirty="0" err="1" smtClean="0"/>
              <a:t>digunakan</a:t>
            </a:r>
            <a:r>
              <a:rPr lang="en-US" sz="1800" dirty="0" smtClean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mengelompokkan</a:t>
            </a:r>
            <a:r>
              <a:rPr lang="en-US" sz="1800" dirty="0" smtClean="0"/>
              <a:t> </a:t>
            </a:r>
            <a:r>
              <a:rPr lang="en-US" sz="1800" dirty="0" err="1" smtClean="0"/>
              <a:t>konten</a:t>
            </a:r>
            <a:r>
              <a:rPr lang="en-US" sz="1800" dirty="0" smtClean="0"/>
              <a:t> </a:t>
            </a:r>
            <a:r>
              <a:rPr lang="en-US" sz="1800" dirty="0" err="1" smtClean="0"/>
              <a:t>dengan</a:t>
            </a:r>
            <a:r>
              <a:rPr lang="en-US" sz="1800" dirty="0" smtClean="0"/>
              <a:t> </a:t>
            </a:r>
            <a:r>
              <a:rPr lang="en-US" sz="1800" dirty="0" err="1" smtClean="0"/>
              <a:t>tema</a:t>
            </a:r>
            <a:r>
              <a:rPr lang="en-US" sz="1800" dirty="0" smtClean="0"/>
              <a:t> yang </a:t>
            </a:r>
            <a:r>
              <a:rPr lang="en-US" sz="1800" dirty="0" err="1" smtClean="0"/>
              <a:t>sejenis</a:t>
            </a:r>
            <a:r>
              <a:rPr lang="en-US" sz="1800" dirty="0" smtClean="0"/>
              <a:t>. </a:t>
            </a:r>
            <a:r>
              <a:rPr lang="en-US" sz="1800" dirty="0" err="1" smtClean="0"/>
              <a:t>Biasanya</a:t>
            </a:r>
            <a:r>
              <a:rPr lang="en-US" sz="1800" dirty="0" smtClean="0"/>
              <a:t> </a:t>
            </a:r>
            <a:r>
              <a:rPr lang="en-US" sz="1800" dirty="0" err="1" smtClean="0"/>
              <a:t>disertai</a:t>
            </a:r>
            <a:r>
              <a:rPr lang="en-US" sz="1800" dirty="0" smtClean="0"/>
              <a:t> heading. </a:t>
            </a:r>
            <a:r>
              <a:rPr lang="en-US" sz="1800" dirty="0" err="1" smtClean="0"/>
              <a:t>Seperti</a:t>
            </a:r>
            <a:r>
              <a:rPr lang="en-US" sz="1800" dirty="0" smtClean="0"/>
              <a:t> di </a:t>
            </a:r>
            <a:r>
              <a:rPr lang="en-US" sz="1800" dirty="0" err="1" smtClean="0"/>
              <a:t>surat</a:t>
            </a:r>
            <a:r>
              <a:rPr lang="en-US" sz="1800" dirty="0" smtClean="0"/>
              <a:t> </a:t>
            </a:r>
            <a:r>
              <a:rPr lang="en-US" sz="1800" dirty="0" err="1" smtClean="0"/>
              <a:t>kabar</a:t>
            </a:r>
            <a:r>
              <a:rPr lang="en-US" sz="1800" dirty="0" smtClean="0"/>
              <a:t> offline </a:t>
            </a:r>
            <a:r>
              <a:rPr lang="en-US" sz="1800" dirty="0" err="1" smtClean="0"/>
              <a:t>ada</a:t>
            </a:r>
            <a:r>
              <a:rPr lang="en-US" sz="1800" dirty="0" smtClean="0"/>
              <a:t> </a:t>
            </a:r>
            <a:r>
              <a:rPr lang="en-US" sz="1800" dirty="0" err="1" smtClean="0"/>
              <a:t>bagian</a:t>
            </a:r>
            <a:r>
              <a:rPr lang="en-US" sz="1800" dirty="0" smtClean="0"/>
              <a:t> </a:t>
            </a:r>
            <a:r>
              <a:rPr lang="en-US" sz="1800" dirty="0" err="1" smtClean="0"/>
              <a:t>kolom</a:t>
            </a:r>
            <a:r>
              <a:rPr lang="en-US" sz="1800" dirty="0" smtClean="0"/>
              <a:t> </a:t>
            </a:r>
            <a:r>
              <a:rPr lang="en-US" sz="1800" dirty="0" err="1" smtClean="0"/>
              <a:t>pembaca</a:t>
            </a:r>
            <a:r>
              <a:rPr lang="en-US" sz="1800" dirty="0" smtClean="0"/>
              <a:t>, </a:t>
            </a:r>
            <a:r>
              <a:rPr lang="en-US" sz="1800" dirty="0" err="1" smtClean="0"/>
              <a:t>berita</a:t>
            </a:r>
            <a:r>
              <a:rPr lang="en-US" sz="1800" dirty="0" smtClean="0"/>
              <a:t> </a:t>
            </a:r>
            <a:r>
              <a:rPr lang="en-US" sz="1800" dirty="0" err="1" smtClean="0"/>
              <a:t>teknologi</a:t>
            </a:r>
            <a:r>
              <a:rPr lang="en-US" sz="1800" dirty="0" smtClean="0"/>
              <a:t>, </a:t>
            </a:r>
            <a:r>
              <a:rPr lang="en-US" sz="1800" dirty="0" err="1" smtClean="0"/>
              <a:t>dsb</a:t>
            </a:r>
            <a:endParaRPr lang="en-US" sz="1800" dirty="0" smtClean="0"/>
          </a:p>
          <a:p>
            <a:pPr marL="174625" indent="-174625"/>
            <a:r>
              <a:rPr lang="en-US" sz="2000" b="1" dirty="0" smtClean="0">
                <a:solidFill>
                  <a:srgbClr val="00B0F0"/>
                </a:solidFill>
              </a:rPr>
              <a:t>Article</a:t>
            </a:r>
          </a:p>
          <a:p>
            <a:pPr marL="174625" lvl="1" indent="0">
              <a:buNone/>
            </a:pPr>
            <a:r>
              <a:rPr lang="en-US" sz="1800" dirty="0" err="1" smtClean="0"/>
              <a:t>Menurut</a:t>
            </a:r>
            <a:r>
              <a:rPr lang="en-US" sz="1800" dirty="0" smtClean="0"/>
              <a:t> w3schools article </a:t>
            </a:r>
            <a:r>
              <a:rPr lang="en-US" sz="1800" dirty="0" err="1" smtClean="0"/>
              <a:t>digunakan</a:t>
            </a:r>
            <a:r>
              <a:rPr lang="en-US" sz="1800" dirty="0" smtClean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membuat</a:t>
            </a:r>
            <a:r>
              <a:rPr lang="en-US" sz="1800" dirty="0" smtClean="0"/>
              <a:t> </a:t>
            </a:r>
            <a:r>
              <a:rPr lang="en-US" sz="1800" dirty="0" err="1" smtClean="0"/>
              <a:t>konten</a:t>
            </a:r>
            <a:r>
              <a:rPr lang="en-US" sz="1800" dirty="0" smtClean="0"/>
              <a:t> </a:t>
            </a:r>
            <a:r>
              <a:rPr lang="en-US" sz="1800" dirty="0" err="1" smtClean="0"/>
              <a:t>mandiri</a:t>
            </a:r>
            <a:r>
              <a:rPr lang="en-US" sz="1800" dirty="0" smtClean="0"/>
              <a:t>. </a:t>
            </a:r>
            <a:r>
              <a:rPr lang="en-US" sz="1800" dirty="0" err="1" smtClean="0"/>
              <a:t>Contohnya</a:t>
            </a:r>
            <a:r>
              <a:rPr lang="en-US" sz="1800" dirty="0" smtClean="0"/>
              <a:t>:</a:t>
            </a:r>
          </a:p>
          <a:p>
            <a:pPr lvl="1"/>
            <a:r>
              <a:rPr lang="en-US" sz="1800" dirty="0" smtClean="0"/>
              <a:t>Forum post</a:t>
            </a:r>
          </a:p>
          <a:p>
            <a:pPr lvl="1"/>
            <a:r>
              <a:rPr lang="en-US" sz="1800" dirty="0" smtClean="0"/>
              <a:t>Blog post</a:t>
            </a:r>
          </a:p>
          <a:p>
            <a:pPr lvl="1"/>
            <a:r>
              <a:rPr lang="en-US" sz="1800" dirty="0" err="1" smtClean="0"/>
              <a:t>Artikel</a:t>
            </a:r>
            <a:r>
              <a:rPr lang="en-US" sz="1800" dirty="0" smtClean="0"/>
              <a:t> </a:t>
            </a:r>
            <a:r>
              <a:rPr lang="en-US" sz="1800" dirty="0" err="1" smtClean="0"/>
              <a:t>surat</a:t>
            </a:r>
            <a:r>
              <a:rPr lang="en-US" sz="1800" dirty="0" smtClean="0"/>
              <a:t> </a:t>
            </a:r>
            <a:r>
              <a:rPr lang="en-US" sz="1800" dirty="0" err="1" smtClean="0"/>
              <a:t>kabar</a:t>
            </a:r>
            <a:endParaRPr lang="en-US" sz="1800" dirty="0" smtClean="0"/>
          </a:p>
          <a:p>
            <a:pPr marL="174625" indent="-174625"/>
            <a:r>
              <a:rPr lang="en-US" sz="2000" b="1" dirty="0" smtClean="0">
                <a:solidFill>
                  <a:srgbClr val="00B0F0"/>
                </a:solidFill>
              </a:rPr>
              <a:t>Aside</a:t>
            </a:r>
          </a:p>
          <a:p>
            <a:pPr marL="174625" lvl="1" indent="0">
              <a:buNone/>
            </a:pP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menampilkan</a:t>
            </a:r>
            <a:r>
              <a:rPr lang="en-US" sz="1800" dirty="0" smtClean="0"/>
              <a:t> </a:t>
            </a:r>
            <a:r>
              <a:rPr lang="en-US" sz="1800" dirty="0" err="1" smtClean="0"/>
              <a:t>konten</a:t>
            </a:r>
            <a:r>
              <a:rPr lang="en-US" sz="1800" dirty="0" smtClean="0"/>
              <a:t> lain yang </a:t>
            </a:r>
            <a:r>
              <a:rPr lang="en-US" sz="1800" dirty="0" err="1" smtClean="0"/>
              <a:t>tidak</a:t>
            </a:r>
            <a:r>
              <a:rPr lang="en-US" sz="1800" dirty="0" smtClean="0"/>
              <a:t> </a:t>
            </a:r>
            <a:r>
              <a:rPr lang="en-US" sz="1800" dirty="0" err="1" smtClean="0"/>
              <a:t>berhubungan</a:t>
            </a:r>
            <a:r>
              <a:rPr lang="en-US" sz="1800" dirty="0" smtClean="0"/>
              <a:t> </a:t>
            </a:r>
            <a:r>
              <a:rPr lang="en-US" sz="1800" dirty="0" err="1" smtClean="0"/>
              <a:t>langsung</a:t>
            </a:r>
            <a:r>
              <a:rPr lang="en-US" sz="1800" dirty="0" smtClean="0"/>
              <a:t> </a:t>
            </a:r>
            <a:r>
              <a:rPr lang="en-US" sz="1800" dirty="0" err="1" smtClean="0"/>
              <a:t>dengan</a:t>
            </a:r>
            <a:r>
              <a:rPr lang="en-US" sz="1800" dirty="0" smtClean="0"/>
              <a:t> </a:t>
            </a:r>
            <a:r>
              <a:rPr lang="en-US" sz="1800" dirty="0" err="1" smtClean="0"/>
              <a:t>konten</a:t>
            </a:r>
            <a:r>
              <a:rPr lang="en-US" sz="1800" dirty="0" smtClean="0"/>
              <a:t> </a:t>
            </a:r>
            <a:r>
              <a:rPr lang="en-US" sz="1800" dirty="0" err="1" smtClean="0"/>
              <a:t>utama</a:t>
            </a:r>
            <a:r>
              <a:rPr lang="en-US" sz="1800" dirty="0" smtClean="0"/>
              <a:t>. </a:t>
            </a:r>
            <a:r>
              <a:rPr lang="en-US" sz="1800" dirty="0" err="1" smtClean="0"/>
              <a:t>Biasanya</a:t>
            </a:r>
            <a:r>
              <a:rPr lang="en-US" sz="1800" dirty="0" smtClean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menampilkan</a:t>
            </a:r>
            <a:r>
              <a:rPr lang="en-US" sz="1800" dirty="0" smtClean="0"/>
              <a:t> </a:t>
            </a:r>
            <a:r>
              <a:rPr lang="en-US" sz="1800" dirty="0" err="1" smtClean="0"/>
              <a:t>iklan</a:t>
            </a:r>
            <a:r>
              <a:rPr lang="en-US" sz="1800" dirty="0" smtClean="0"/>
              <a:t> </a:t>
            </a:r>
            <a:r>
              <a:rPr lang="en-US" sz="1800" dirty="0" err="1" smtClean="0"/>
              <a:t>dan</a:t>
            </a:r>
            <a:r>
              <a:rPr lang="en-US" sz="1800" dirty="0" smtClean="0"/>
              <a:t> </a:t>
            </a:r>
            <a:r>
              <a:rPr lang="en-US" sz="1800" dirty="0" err="1" smtClean="0"/>
              <a:t>sebagainya</a:t>
            </a:r>
            <a:r>
              <a:rPr lang="en-US" sz="1800" dirty="0" smtClean="0"/>
              <a:t>. </a:t>
            </a:r>
            <a:r>
              <a:rPr lang="en-US" sz="1800" dirty="0" err="1" smtClean="0"/>
              <a:t>Fungsinya</a:t>
            </a:r>
            <a:r>
              <a:rPr lang="en-US" sz="1800" dirty="0" smtClean="0"/>
              <a:t> </a:t>
            </a:r>
            <a:r>
              <a:rPr lang="en-US" sz="1800" dirty="0" err="1" smtClean="0"/>
              <a:t>sama</a:t>
            </a:r>
            <a:r>
              <a:rPr lang="en-US" sz="1800" dirty="0" smtClean="0"/>
              <a:t> </a:t>
            </a:r>
            <a:r>
              <a:rPr lang="en-US" sz="1800" dirty="0" err="1" smtClean="0"/>
              <a:t>seperti</a:t>
            </a:r>
            <a:r>
              <a:rPr lang="en-US" sz="1800" dirty="0" smtClean="0"/>
              <a:t> sidebar</a:t>
            </a:r>
          </a:p>
          <a:p>
            <a:pPr marL="174625" indent="-174625"/>
            <a:r>
              <a:rPr lang="en-US" sz="2000" b="1" dirty="0" smtClean="0">
                <a:solidFill>
                  <a:srgbClr val="00B0F0"/>
                </a:solidFill>
              </a:rPr>
              <a:t>Footer</a:t>
            </a:r>
          </a:p>
          <a:p>
            <a:pPr marL="174625" lvl="1" indent="0">
              <a:buNone/>
            </a:pP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membuat</a:t>
            </a:r>
            <a:r>
              <a:rPr lang="en-US" sz="1800" dirty="0" smtClean="0"/>
              <a:t> </a:t>
            </a:r>
            <a:r>
              <a:rPr lang="en-US" sz="1800" dirty="0" err="1" smtClean="0"/>
              <a:t>bagian</a:t>
            </a:r>
            <a:r>
              <a:rPr lang="en-US" sz="1800" dirty="0" smtClean="0"/>
              <a:t> kaki </a:t>
            </a:r>
            <a:r>
              <a:rPr lang="en-US" sz="1800" dirty="0" err="1" smtClean="0"/>
              <a:t>dokumen</a:t>
            </a:r>
            <a:r>
              <a:rPr lang="en-US" sz="1800" dirty="0" smtClean="0"/>
              <a:t>. </a:t>
            </a:r>
            <a:r>
              <a:rPr lang="en-US" sz="1800" dirty="0" err="1" smtClean="0"/>
              <a:t>Biasanya</a:t>
            </a:r>
            <a:r>
              <a:rPr lang="en-US" sz="1800" dirty="0" smtClean="0"/>
              <a:t> </a:t>
            </a:r>
            <a:r>
              <a:rPr lang="en-US" sz="1800" dirty="0" err="1" smtClean="0"/>
              <a:t>diisi</a:t>
            </a:r>
            <a:r>
              <a:rPr lang="en-US" sz="1800" dirty="0" smtClean="0"/>
              <a:t> </a:t>
            </a:r>
            <a:r>
              <a:rPr lang="en-US" sz="1800" dirty="0" err="1" smtClean="0"/>
              <a:t>dengan</a:t>
            </a:r>
            <a:r>
              <a:rPr lang="en-US" sz="1800" dirty="0" smtClean="0"/>
              <a:t> </a:t>
            </a:r>
            <a:r>
              <a:rPr lang="en-US" sz="1800" dirty="0" err="1" smtClean="0"/>
              <a:t>informasi</a:t>
            </a:r>
            <a:r>
              <a:rPr lang="en-US" sz="1800" dirty="0" smtClean="0"/>
              <a:t> copyright, </a:t>
            </a:r>
            <a:r>
              <a:rPr lang="en-US" sz="1800" dirty="0" err="1" smtClean="0"/>
              <a:t>kontak</a:t>
            </a:r>
            <a:r>
              <a:rPr lang="en-US" sz="1800" dirty="0" smtClean="0"/>
              <a:t>, </a:t>
            </a:r>
            <a:r>
              <a:rPr lang="en-US" sz="1800" dirty="0" err="1" smtClean="0"/>
              <a:t>kepemilikan</a:t>
            </a:r>
            <a:r>
              <a:rPr lang="en-US" sz="1800" dirty="0" smtClean="0"/>
              <a:t> situs, </a:t>
            </a:r>
            <a:r>
              <a:rPr lang="en-US" sz="1800" dirty="0" err="1" smtClean="0"/>
              <a:t>dan</a:t>
            </a:r>
            <a:r>
              <a:rPr lang="en-US" sz="1800" dirty="0" smtClean="0"/>
              <a:t> </a:t>
            </a:r>
            <a:r>
              <a:rPr lang="en-US" sz="1800" dirty="0" err="1" smtClean="0"/>
              <a:t>peta</a:t>
            </a:r>
            <a:r>
              <a:rPr lang="en-US" sz="1800" dirty="0" smtClean="0"/>
              <a:t> situs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1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Semantik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928" y="2034709"/>
            <a:ext cx="7726867" cy="42282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err="1" smtClean="0"/>
              <a:t>Pembagian</a:t>
            </a:r>
            <a:r>
              <a:rPr lang="en-US" sz="2000" dirty="0" smtClean="0"/>
              <a:t> </a:t>
            </a:r>
            <a:r>
              <a:rPr lang="en-US" sz="2000" dirty="0" err="1" smtClean="0"/>
              <a:t>halaman</a:t>
            </a:r>
            <a:r>
              <a:rPr lang="en-US" sz="2000" dirty="0" smtClean="0"/>
              <a:t> web </a:t>
            </a:r>
            <a:r>
              <a:rPr lang="en-US" sz="2000" dirty="0" err="1" smtClean="0"/>
              <a:t>seperti</a:t>
            </a:r>
            <a:r>
              <a:rPr lang="en-US" sz="2000" dirty="0" smtClean="0"/>
              <a:t> </a:t>
            </a:r>
            <a:r>
              <a:rPr lang="en-US" sz="2000" dirty="0" err="1" smtClean="0"/>
              <a:t>diatas</a:t>
            </a:r>
            <a:r>
              <a:rPr lang="en-US" sz="2000" dirty="0" smtClean="0"/>
              <a:t> </a:t>
            </a:r>
            <a:r>
              <a:rPr lang="en-US" sz="2000" dirty="0" err="1" smtClean="0"/>
              <a:t>menggunakan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elemen-elemen</a:t>
            </a:r>
            <a:r>
              <a:rPr lang="en-US" sz="2000" dirty="0" smtClean="0"/>
              <a:t> </a:t>
            </a:r>
            <a:r>
              <a:rPr lang="en-US" sz="2000" dirty="0" err="1" smtClean="0"/>
              <a:t>semantik</a:t>
            </a:r>
            <a:r>
              <a:rPr lang="en-US" sz="2000" dirty="0" smtClean="0"/>
              <a:t>: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&lt;header&gt;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</a:t>
            </a:r>
            <a:r>
              <a:rPr lang="en-US" sz="1800" dirty="0" err="1" smtClean="0">
                <a:solidFill>
                  <a:srgbClr val="0070C0"/>
                </a:solidFill>
              </a:rPr>
              <a:t>nav</a:t>
            </a:r>
            <a:r>
              <a:rPr lang="en-US" sz="1800" dirty="0" smtClean="0">
                <a:solidFill>
                  <a:srgbClr val="0070C0"/>
                </a:solidFill>
              </a:rPr>
              <a:t>&gt;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&lt;section&gt;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&lt;article&gt;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&lt;aside&gt;</a:t>
            </a:r>
          </a:p>
          <a:p>
            <a:pPr marL="457200" lvl="1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&lt;footer&gt;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800" dirty="0" err="1" smtClean="0"/>
              <a:t>Definisi</a:t>
            </a:r>
            <a:r>
              <a:rPr lang="en-US" sz="1800" dirty="0" smtClean="0"/>
              <a:t> </a:t>
            </a:r>
            <a:r>
              <a:rPr lang="en-US" sz="1800" dirty="0" err="1" smtClean="0"/>
              <a:t>elemen</a:t>
            </a:r>
            <a:r>
              <a:rPr lang="en-US" sz="1800" dirty="0" smtClean="0"/>
              <a:t> </a:t>
            </a:r>
            <a:r>
              <a:rPr lang="en-US" sz="1800" dirty="0" err="1" smtClean="0"/>
              <a:t>semantik</a:t>
            </a:r>
            <a:r>
              <a:rPr lang="en-US" sz="1800" dirty="0" smtClean="0"/>
              <a:t> </a:t>
            </a:r>
            <a:r>
              <a:rPr lang="en-US" sz="1800" dirty="0" err="1" smtClean="0"/>
              <a:t>adalah</a:t>
            </a:r>
            <a:r>
              <a:rPr lang="en-US" sz="1800" dirty="0" smtClean="0"/>
              <a:t> </a:t>
            </a:r>
            <a:r>
              <a:rPr lang="en-US" sz="1800" dirty="0" err="1" smtClean="0"/>
              <a:t>elemen</a:t>
            </a:r>
            <a:r>
              <a:rPr lang="en-US" sz="1800" dirty="0" smtClean="0"/>
              <a:t> yang </a:t>
            </a:r>
            <a:r>
              <a:rPr lang="en-US" sz="1800" dirty="0" err="1" smtClean="0"/>
              <a:t>bermakna</a:t>
            </a:r>
            <a:r>
              <a:rPr lang="en-US" dirty="0"/>
              <a:t>.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semantik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mendeskripsikan</a:t>
            </a:r>
            <a:r>
              <a:rPr lang="en-US" dirty="0"/>
              <a:t> </a:t>
            </a:r>
            <a:r>
              <a:rPr lang="en-US" dirty="0" err="1" smtClean="0"/>
              <a:t>arti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/>
              <a:t>bagi</a:t>
            </a:r>
            <a:r>
              <a:rPr lang="en-US" dirty="0"/>
              <a:t> browser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pengembang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1800" dirty="0" err="1" smtClean="0"/>
              <a:t>Elemen</a:t>
            </a:r>
            <a:r>
              <a:rPr lang="en-US" sz="1800" dirty="0" smtClean="0"/>
              <a:t> </a:t>
            </a:r>
            <a:r>
              <a:rPr lang="en-US" sz="1800" dirty="0" err="1" smtClean="0"/>
              <a:t>semantik</a:t>
            </a:r>
            <a:r>
              <a:rPr lang="en-US" sz="1800" dirty="0" smtClean="0"/>
              <a:t> yang lain </a:t>
            </a:r>
            <a:r>
              <a:rPr lang="en-US" sz="1800" dirty="0" err="1" smtClean="0"/>
              <a:t>misalnya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70C0"/>
                </a:solidFill>
              </a:rPr>
              <a:t>&lt;form&gt; </a:t>
            </a:r>
            <a:r>
              <a:rPr lang="en-US" sz="1800" dirty="0" err="1" smtClean="0"/>
              <a:t>dan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70C0"/>
                </a:solidFill>
              </a:rPr>
              <a:t>&lt;table&gt;.</a:t>
            </a:r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yang non </a:t>
            </a:r>
            <a:r>
              <a:rPr lang="en-US" dirty="0" err="1" smtClean="0"/>
              <a:t>semantik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&lt;div&gt; </a:t>
            </a:r>
            <a:r>
              <a:rPr lang="en-US" dirty="0" err="1" smtClean="0"/>
              <a:t>dan</a:t>
            </a:r>
            <a:r>
              <a:rPr lang="en-US" dirty="0" smtClean="0">
                <a:solidFill>
                  <a:srgbClr val="0070C0"/>
                </a:solidFill>
              </a:rPr>
              <a:t> &lt;span&gt; </a:t>
            </a:r>
            <a:r>
              <a:rPr lang="en-US" dirty="0" smtClean="0"/>
              <a:t>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apapun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kontennya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1800" dirty="0" err="1" smtClean="0"/>
              <a:t>Penggunaan</a:t>
            </a:r>
            <a:r>
              <a:rPr lang="en-US" sz="1800" dirty="0" smtClean="0"/>
              <a:t> </a:t>
            </a:r>
            <a:r>
              <a:rPr lang="en-US" sz="1800" dirty="0" err="1" smtClean="0"/>
              <a:t>elemen</a:t>
            </a:r>
            <a:r>
              <a:rPr lang="en-US" sz="1800" dirty="0" smtClean="0"/>
              <a:t> </a:t>
            </a:r>
            <a:r>
              <a:rPr lang="en-US" sz="1800" dirty="0" err="1" smtClean="0"/>
              <a:t>semantik</a:t>
            </a:r>
            <a:r>
              <a:rPr lang="en-US" sz="1800" dirty="0" smtClean="0"/>
              <a:t> layout (</a:t>
            </a:r>
            <a:r>
              <a:rPr lang="en-US" sz="1800" dirty="0" smtClean="0">
                <a:solidFill>
                  <a:srgbClr val="0070C0"/>
                </a:solidFill>
              </a:rPr>
              <a:t>&lt;header&gt;</a:t>
            </a:r>
            <a:r>
              <a:rPr lang="en-US" sz="1800" dirty="0" smtClean="0">
                <a:solidFill>
                  <a:srgbClr val="00B0F0"/>
                </a:solidFill>
              </a:rPr>
              <a:t> </a:t>
            </a:r>
            <a:r>
              <a:rPr lang="en-US" sz="1800" dirty="0" smtClean="0"/>
              <a:t>s/d </a:t>
            </a:r>
            <a:r>
              <a:rPr lang="en-US" sz="1800" dirty="0" smtClean="0">
                <a:solidFill>
                  <a:srgbClr val="0070C0"/>
                </a:solidFill>
              </a:rPr>
              <a:t>&lt;footer&gt;</a:t>
            </a:r>
            <a:r>
              <a:rPr lang="en-US" sz="1800" dirty="0" smtClean="0"/>
              <a:t>)</a:t>
            </a:r>
            <a:r>
              <a:rPr lang="en-US" sz="1800" dirty="0" smtClean="0">
                <a:solidFill>
                  <a:srgbClr val="00B0F0"/>
                </a:solidFill>
              </a:rPr>
              <a:t> </a:t>
            </a:r>
            <a:r>
              <a:rPr lang="en-US" sz="1800" dirty="0" err="1" smtClean="0"/>
              <a:t>masih</a:t>
            </a:r>
            <a:r>
              <a:rPr lang="en-US" sz="1800" dirty="0" smtClean="0"/>
              <a:t> </a:t>
            </a:r>
            <a:r>
              <a:rPr lang="en-US" sz="1800" dirty="0" err="1" smtClean="0"/>
              <a:t>cukup</a:t>
            </a:r>
            <a:r>
              <a:rPr lang="en-US" sz="1800" dirty="0" smtClean="0"/>
              <a:t> </a:t>
            </a:r>
            <a:r>
              <a:rPr lang="en-US" sz="1800" dirty="0" err="1" smtClean="0"/>
              <a:t>jarang</a:t>
            </a:r>
            <a:r>
              <a:rPr lang="en-US" sz="1800" dirty="0" smtClean="0"/>
              <a:t> </a:t>
            </a:r>
            <a:r>
              <a:rPr lang="en-US" sz="1800" dirty="0" err="1" smtClean="0"/>
              <a:t>terlihat</a:t>
            </a:r>
            <a:r>
              <a:rPr lang="en-US" sz="1800" dirty="0" smtClean="0"/>
              <a:t>. Orang </a:t>
            </a:r>
            <a:r>
              <a:rPr lang="en-US" sz="1800" dirty="0" err="1" smtClean="0"/>
              <a:t>lebih</a:t>
            </a:r>
            <a:r>
              <a:rPr lang="en-US" sz="1800" dirty="0" smtClean="0"/>
              <a:t> </a:t>
            </a:r>
            <a:r>
              <a:rPr lang="en-US" sz="1800" dirty="0" err="1" smtClean="0"/>
              <a:t>banyak</a:t>
            </a:r>
            <a:r>
              <a:rPr lang="en-US" sz="1800" dirty="0" smtClean="0"/>
              <a:t> </a:t>
            </a:r>
            <a:r>
              <a:rPr lang="en-US" sz="1800" dirty="0" err="1" smtClean="0"/>
              <a:t>menggunakan</a:t>
            </a:r>
            <a:r>
              <a:rPr lang="en-US" sz="1800" dirty="0" smtClean="0"/>
              <a:t> </a:t>
            </a:r>
            <a:r>
              <a:rPr lang="en-US" sz="1800" dirty="0" err="1" smtClean="0"/>
              <a:t>misalnya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70C0"/>
                </a:solidFill>
              </a:rPr>
              <a:t>&lt;div id=“</a:t>
            </a:r>
            <a:r>
              <a:rPr lang="en-US" sz="1800" dirty="0" err="1" smtClean="0">
                <a:solidFill>
                  <a:srgbClr val="0070C0"/>
                </a:solidFill>
              </a:rPr>
              <a:t>nav</a:t>
            </a:r>
            <a:r>
              <a:rPr lang="en-US" dirty="0" smtClean="0">
                <a:solidFill>
                  <a:srgbClr val="0070C0"/>
                </a:solidFill>
              </a:rPr>
              <a:t>”&gt;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menu </a:t>
            </a:r>
            <a:r>
              <a:rPr lang="en-US" dirty="0" err="1" smtClean="0"/>
              <a:t>navigasi</a:t>
            </a:r>
            <a:r>
              <a:rPr lang="en-US" dirty="0" smtClean="0"/>
              <a:t>.</a:t>
            </a: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91D99-C86E-4F99-AA8C-3E3FC1E614C4}"/>
              </a:ext>
            </a:extLst>
          </p:cNvPr>
          <p:cNvSpPr txBox="1">
            <a:spLocks/>
          </p:cNvSpPr>
          <p:nvPr/>
        </p:nvSpPr>
        <p:spPr>
          <a:xfrm>
            <a:off x="956815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MATA KULIAH</a:t>
            </a:r>
          </a:p>
          <a:p>
            <a:pPr algn="r">
              <a:spcBef>
                <a:spcPts val="0"/>
              </a:spcBef>
            </a:pPr>
            <a:r>
              <a:rPr lang="en-ID" sz="1050" b="1" dirty="0" err="1" smtClean="0">
                <a:solidFill>
                  <a:schemeClr val="accent5">
                    <a:lumMod val="75000"/>
                  </a:schemeClr>
                </a:solidFill>
              </a:rPr>
              <a:t>Pemrograman</a:t>
            </a:r>
            <a:r>
              <a:rPr lang="en-ID" sz="1050" b="1" dirty="0" smtClean="0">
                <a:solidFill>
                  <a:schemeClr val="accent5">
                    <a:lumMod val="75000"/>
                  </a:schemeClr>
                </a:solidFill>
              </a:rPr>
              <a:t> Web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8B88F2C-5F81-41B6-9D81-4F88841AF1C9}"/>
              </a:ext>
            </a:extLst>
          </p:cNvPr>
          <p:cNvSpPr txBox="1">
            <a:spLocks/>
          </p:cNvSpPr>
          <p:nvPr/>
        </p:nvSpPr>
        <p:spPr>
          <a:xfrm>
            <a:off x="5511311" y="203912"/>
            <a:ext cx="2295526" cy="510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/>
              <a:t>PROGRAM STUDI</a:t>
            </a:r>
          </a:p>
          <a:p>
            <a:pPr algn="r">
              <a:spcBef>
                <a:spcPts val="0"/>
              </a:spcBef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SISTEM INFORMASI</a:t>
            </a:r>
            <a:endParaRPr lang="en-ID" sz="105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49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Tugas</a:t>
            </a:r>
            <a:r>
              <a:rPr lang="en-US" dirty="0"/>
              <a:t> 1 :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HTML5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Curriculum Vitae (CV).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berfokus</a:t>
            </a:r>
            <a:r>
              <a:rPr lang="en-US" dirty="0"/>
              <a:t> </a:t>
            </a:r>
            <a:r>
              <a:rPr lang="en-US" dirty="0" err="1"/>
              <a:t>murni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HTML5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menyusun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.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semantik</a:t>
            </a:r>
            <a:r>
              <a:rPr lang="en-US" dirty="0"/>
              <a:t>,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terstruktur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enumerasi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Batas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: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ke-2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err="1" smtClean="0"/>
              <a:t>Penjelasan</a:t>
            </a:r>
            <a:r>
              <a:rPr lang="en-US" i="1" dirty="0" smtClean="0"/>
              <a:t> </a:t>
            </a:r>
            <a:r>
              <a:rPr lang="en-US" i="1" dirty="0" err="1" smtClean="0"/>
              <a:t>lebih</a:t>
            </a:r>
            <a:r>
              <a:rPr lang="en-US" i="1" dirty="0" smtClean="0"/>
              <a:t> </a:t>
            </a:r>
            <a:r>
              <a:rPr lang="en-US" i="1" dirty="0" err="1" smtClean="0"/>
              <a:t>lanjut</a:t>
            </a:r>
            <a:r>
              <a:rPr lang="en-US" i="1" dirty="0" smtClean="0"/>
              <a:t> </a:t>
            </a:r>
            <a:r>
              <a:rPr lang="en-US" i="1" dirty="0" err="1" smtClean="0"/>
              <a:t>ada</a:t>
            </a:r>
            <a:r>
              <a:rPr lang="en-US" i="1" dirty="0" smtClean="0"/>
              <a:t> di RTM (</a:t>
            </a:r>
            <a:r>
              <a:rPr lang="en-US" i="1" dirty="0" err="1" smtClean="0"/>
              <a:t>Rencana</a:t>
            </a:r>
            <a:r>
              <a:rPr lang="en-US" i="1" dirty="0" smtClean="0"/>
              <a:t> </a:t>
            </a:r>
            <a:r>
              <a:rPr lang="en-US" i="1" dirty="0" err="1" smtClean="0"/>
              <a:t>Tugas</a:t>
            </a:r>
            <a:r>
              <a:rPr lang="en-US" i="1" dirty="0" smtClean="0"/>
              <a:t> </a:t>
            </a:r>
            <a:r>
              <a:rPr lang="en-US" i="1" dirty="0" err="1" smtClean="0"/>
              <a:t>Mahasiswa</a:t>
            </a:r>
            <a:r>
              <a:rPr lang="en-US" i="1" dirty="0" smtClean="0"/>
              <a:t>) di file RPS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37030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2F2CD6-2C01-4AC9-9130-69C04E3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553" y="2396649"/>
            <a:ext cx="4823010" cy="1438761"/>
          </a:xfrm>
        </p:spPr>
        <p:txBody>
          <a:bodyPr>
            <a:normAutofit/>
          </a:bodyPr>
          <a:lstStyle/>
          <a:p>
            <a:r>
              <a:rPr lang="en-US" sz="8000" b="1" dirty="0"/>
              <a:t>THANKS</a:t>
            </a:r>
            <a:endParaRPr lang="en-ID" sz="80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F7990F-2737-4CCA-ADFB-79165273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8953" y="3742841"/>
            <a:ext cx="4310155" cy="1031408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EB012-EE7B-4786-A65B-FDDC0C5766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767" y="2543174"/>
            <a:ext cx="1388786" cy="143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2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3112</TotalTime>
  <Words>2099</Words>
  <Application>Microsoft Office PowerPoint</Application>
  <PresentationFormat>Widescreen</PresentationFormat>
  <Paragraphs>453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Consolas</vt:lpstr>
      <vt:lpstr>Signika</vt:lpstr>
      <vt:lpstr>Times New Roman</vt:lpstr>
      <vt:lpstr>1_Custom Design</vt:lpstr>
      <vt:lpstr>BAHASA HTML 2</vt:lpstr>
      <vt:lpstr>Capaian Pembelajaran</vt:lpstr>
      <vt:lpstr>INTRODUCTION</vt:lpstr>
      <vt:lpstr>Elemen html yang sering digunakan</vt:lpstr>
      <vt:lpstr>Elemen Image</vt:lpstr>
      <vt:lpstr>Mengatur Ukuran Image di Browser</vt:lpstr>
      <vt:lpstr>Membuat Image Jadi Link</vt:lpstr>
      <vt:lpstr>Mengatur Posisi Image Terhadap Teks</vt:lpstr>
      <vt:lpstr>Elemen Table</vt:lpstr>
      <vt:lpstr>Contoh Table</vt:lpstr>
      <vt:lpstr>Mengatur Tampilan Border Tabel</vt:lpstr>
      <vt:lpstr>Mengatur Tampilan Padding Sel Tabel</vt:lpstr>
      <vt:lpstr>Menggabung Sel-sel Tabel</vt:lpstr>
      <vt:lpstr>Menggabung Sel-sel Tabel</vt:lpstr>
      <vt:lpstr>Elemen Form</vt:lpstr>
      <vt:lpstr>Atribut Form</vt:lpstr>
      <vt:lpstr>Elemen Label</vt:lpstr>
      <vt:lpstr>Atribut elemen input</vt:lpstr>
      <vt:lpstr>Tombol submit</vt:lpstr>
      <vt:lpstr>Jenis Inputan Form</vt:lpstr>
      <vt:lpstr>Jenis Inputan Form</vt:lpstr>
      <vt:lpstr>Elemen DIV</vt:lpstr>
      <vt:lpstr>Elemen Block dan Inline</vt:lpstr>
      <vt:lpstr>HTML Layout</vt:lpstr>
      <vt:lpstr>HTML Layout</vt:lpstr>
      <vt:lpstr>Semantik</vt:lpstr>
      <vt:lpstr>Tugas 1 : Membangun Halaman Profil Pribadi Statis dengan HTML5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dhanu banyu</dc:creator>
  <cp:lastModifiedBy>ASUS</cp:lastModifiedBy>
  <cp:revision>196</cp:revision>
  <dcterms:created xsi:type="dcterms:W3CDTF">2020-07-23T01:18:59Z</dcterms:created>
  <dcterms:modified xsi:type="dcterms:W3CDTF">2026-09-16T10:24:46Z</dcterms:modified>
</cp:coreProperties>
</file>